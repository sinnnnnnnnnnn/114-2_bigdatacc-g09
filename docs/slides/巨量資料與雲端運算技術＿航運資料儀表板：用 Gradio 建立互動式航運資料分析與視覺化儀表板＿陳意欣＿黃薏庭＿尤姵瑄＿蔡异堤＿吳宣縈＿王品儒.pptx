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9" r:id="rId9"/>
    <p:sldId id="268" r:id="rId10"/>
    <p:sldId id="263" r:id="rId11"/>
    <p:sldId id="264" r:id="rId12"/>
    <p:sldId id="266" r:id="rId13"/>
    <p:sldId id="265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7"/>
    <p:restoredTop sz="94570"/>
  </p:normalViewPr>
  <p:slideViewPr>
    <p:cSldViewPr snapToGrid="0">
      <p:cViewPr>
        <p:scale>
          <a:sx n="100" d="100"/>
          <a:sy n="100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請按這裡編輯備註格式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066A57-A48F-4163-B0C0-3A211D53AD7B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4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6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8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0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2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4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05B2-52AF-0590-6AC3-E9F36A43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>
            <a:extLst>
              <a:ext uri="{FF2B5EF4-FFF2-40B4-BE49-F238E27FC236}">
                <a16:creationId xmlns:a16="http://schemas.microsoft.com/office/drawing/2014/main" id="{887318E0-4774-FB95-9C02-78FBDF4F43F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6" name="TextShape 2">
            <a:extLst>
              <a:ext uri="{FF2B5EF4-FFF2-40B4-BE49-F238E27FC236}">
                <a16:creationId xmlns:a16="http://schemas.microsoft.com/office/drawing/2014/main" id="{873951F5-A55F-282A-97DC-D3208F4ABA28}"/>
              </a:ext>
            </a:extLst>
          </p:cNvPr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3712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9C75-8D08-6E7B-2A4D-2CDEC81AA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>
            <a:extLst>
              <a:ext uri="{FF2B5EF4-FFF2-40B4-BE49-F238E27FC236}">
                <a16:creationId xmlns:a16="http://schemas.microsoft.com/office/drawing/2014/main" id="{C77D5EAB-B20A-6A8D-6DFF-D4AECD407B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6" name="TextShape 2">
            <a:extLst>
              <a:ext uri="{FF2B5EF4-FFF2-40B4-BE49-F238E27FC236}">
                <a16:creationId xmlns:a16="http://schemas.microsoft.com/office/drawing/2014/main" id="{A0F70637-8BEB-2B98-FE98-EF0663174C50}"/>
              </a:ext>
            </a:extLst>
          </p:cNvPr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7708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762A-229F-A6A5-5598-501ED9246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>
            <a:extLst>
              <a:ext uri="{FF2B5EF4-FFF2-40B4-BE49-F238E27FC236}">
                <a16:creationId xmlns:a16="http://schemas.microsoft.com/office/drawing/2014/main" id="{54DC967B-8D8A-C4C2-93CB-57F748C45E4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6" name="TextShape 2">
            <a:extLst>
              <a:ext uri="{FF2B5EF4-FFF2-40B4-BE49-F238E27FC236}">
                <a16:creationId xmlns:a16="http://schemas.microsoft.com/office/drawing/2014/main" id="{952916DA-BB47-7797-5ED2-5266883A489D}"/>
              </a:ext>
            </a:extLst>
          </p:cNvPr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379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8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0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5B6FF-E081-6AC8-DDF9-51B26B8F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>
            <a:extLst>
              <a:ext uri="{FF2B5EF4-FFF2-40B4-BE49-F238E27FC236}">
                <a16:creationId xmlns:a16="http://schemas.microsoft.com/office/drawing/2014/main" id="{D1EE3696-9739-0318-D9B7-75093BEC9D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2" name="TextShape 2">
            <a:extLst>
              <a:ext uri="{FF2B5EF4-FFF2-40B4-BE49-F238E27FC236}">
                <a16:creationId xmlns:a16="http://schemas.microsoft.com/office/drawing/2014/main" id="{D2ADA78F-5E4F-6223-877C-E47DCF1CAE96}"/>
              </a:ext>
            </a:extLst>
          </p:cNvPr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3063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2" name="TextShape 2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請按這裡編輯題名文字格式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請按這裡編輯大綱文字格式。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0"/>
            <a:ext cx="12192120" cy="4320000"/>
          </a:xfrm>
          <a:prstGeom prst="rect">
            <a:avLst/>
          </a:prstGeom>
          <a:solidFill>
            <a:srgbClr val="0B2545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44" name="CustomShape 2"/>
          <p:cNvSpPr/>
          <p:nvPr/>
        </p:nvSpPr>
        <p:spPr>
          <a:xfrm>
            <a:off x="504000" y="652680"/>
            <a:ext cx="2857320" cy="24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A7F3D0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114-2 巨量資料與雲端運算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CustomShape 3"/>
          <p:cNvSpPr/>
          <p:nvPr/>
        </p:nvSpPr>
        <p:spPr>
          <a:xfrm>
            <a:off x="504000" y="1152000"/>
            <a:ext cx="8254800" cy="194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航運資料儀表板</a:t>
            </a:r>
            <a:endParaRPr lang="en-US" sz="4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用 Gradio 建立互動式航運資料分析與視覺化儀表板</a:t>
            </a:r>
            <a:endParaRPr lang="en-US" sz="4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CustomShape 4"/>
          <p:cNvSpPr/>
          <p:nvPr/>
        </p:nvSpPr>
        <p:spPr>
          <a:xfrm>
            <a:off x="504000" y="3384000"/>
            <a:ext cx="617328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580" b="0" strike="noStrike" spc="-1" dirty="0">
                <a:solidFill>
                  <a:srgbClr val="DDEBFF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用 Gradio 建立互動式航運資料分析與視覺化儀表板</a:t>
            </a:r>
            <a:endParaRPr lang="en-US" sz="158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" name="CustomShape 5"/>
          <p:cNvSpPr/>
          <p:nvPr/>
        </p:nvSpPr>
        <p:spPr>
          <a:xfrm>
            <a:off x="504000" y="4572000"/>
            <a:ext cx="1944000" cy="570600"/>
          </a:xfrm>
          <a:prstGeom prst="roundRect">
            <a:avLst>
              <a:gd name="adj" fmla="val 23529"/>
            </a:avLst>
          </a:prstGeom>
          <a:solidFill>
            <a:srgbClr val="153C6B"/>
          </a:solidFill>
          <a:ln w="9360">
            <a:solidFill>
              <a:srgbClr val="DDE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48" name="CustomShape 6"/>
          <p:cNvSpPr/>
          <p:nvPr/>
        </p:nvSpPr>
        <p:spPr>
          <a:xfrm>
            <a:off x="712080" y="4698720"/>
            <a:ext cx="1425600" cy="30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DDEBFF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CustomShape 7"/>
          <p:cNvSpPr/>
          <p:nvPr/>
        </p:nvSpPr>
        <p:spPr>
          <a:xfrm>
            <a:off x="648000" y="5292000"/>
            <a:ext cx="6821280" cy="108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3465A4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組長：陳意欣</a:t>
            </a:r>
          </a:p>
          <a:p>
            <a:pPr>
              <a:lnSpc>
                <a:spcPct val="100000"/>
              </a:lnSpc>
            </a:pPr>
            <a:endParaRPr lang="en-US" sz="2000" b="1" strike="noStrike" spc="-1" dirty="0">
              <a:solidFill>
                <a:srgbClr val="3465A4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3465A4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組員：黃薏庭、蔡异堤、吳宣縈、尤姵瑄、王品儒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0" y="361800"/>
            <a:ext cx="12191760" cy="6857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51" name="CustomShape 2"/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52" name="CustomShape 3"/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CustomShape 4"/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研究動機：航運資料有價值，但難直接閱讀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CustomShape 5"/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CustomShape 6"/>
          <p:cNvSpPr/>
          <p:nvPr/>
        </p:nvSpPr>
        <p:spPr>
          <a:xfrm>
            <a:off x="666720" y="1066680"/>
            <a:ext cx="9810360" cy="4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58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港口壅塞、航線延誤與貨櫃量波動會直接影響物流成本與交期；但原始營運資料常散落在 CSV 與報表中。</a:t>
            </a:r>
            <a:endParaRPr lang="en-US" sz="15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CustomShape 7"/>
          <p:cNvSpPr/>
          <p:nvPr/>
        </p:nvSpPr>
        <p:spPr>
          <a:xfrm>
            <a:off x="666720" y="1952640"/>
            <a:ext cx="3142800" cy="2381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57" name="CustomShape 8"/>
          <p:cNvSpPr/>
          <p:nvPr/>
        </p:nvSpPr>
        <p:spPr>
          <a:xfrm>
            <a:off x="666720" y="1952640"/>
            <a:ext cx="66240" cy="2381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58" name="CustomShape 9"/>
          <p:cNvSpPr/>
          <p:nvPr/>
        </p:nvSpPr>
        <p:spPr>
          <a:xfrm>
            <a:off x="864000" y="2052000"/>
            <a:ext cx="281916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資料問題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CustomShape 10"/>
          <p:cNvSpPr/>
          <p:nvPr/>
        </p:nvSpPr>
        <p:spPr>
          <a:xfrm>
            <a:off x="876240" y="2702160"/>
            <a:ext cx="2819160" cy="120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時間格式、港口名稱、船舶類型與數值欄位可能不一致，人工檢查成本高。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</p:txBody>
      </p:sp>
      <p:sp>
        <p:nvSpPr>
          <p:cNvPr id="60" name="CustomShape 11"/>
          <p:cNvSpPr/>
          <p:nvPr/>
        </p:nvSpPr>
        <p:spPr>
          <a:xfrm>
            <a:off x="4524480" y="1952640"/>
            <a:ext cx="3142800" cy="2381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61" name="CustomShape 12"/>
          <p:cNvSpPr/>
          <p:nvPr/>
        </p:nvSpPr>
        <p:spPr>
          <a:xfrm>
            <a:off x="4524480" y="1952640"/>
            <a:ext cx="66240" cy="2381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62" name="CustomShape 13"/>
          <p:cNvSpPr/>
          <p:nvPr/>
        </p:nvSpPr>
        <p:spPr>
          <a:xfrm>
            <a:off x="4734000" y="2052000"/>
            <a:ext cx="281916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分析問題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CustomShape 14"/>
          <p:cNvSpPr/>
          <p:nvPr/>
        </p:nvSpPr>
        <p:spPr>
          <a:xfrm>
            <a:off x="4829040" y="2702160"/>
            <a:ext cx="2819160" cy="120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只看表格很難快速比較哪個港口吞吐量最高、哪條航線延誤最嚴重。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</p:txBody>
      </p:sp>
      <p:sp>
        <p:nvSpPr>
          <p:cNvPr id="64" name="CustomShape 15"/>
          <p:cNvSpPr/>
          <p:nvPr/>
        </p:nvSpPr>
        <p:spPr>
          <a:xfrm>
            <a:off x="8381880" y="1952640"/>
            <a:ext cx="3142800" cy="2381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65" name="CustomShape 16"/>
          <p:cNvSpPr/>
          <p:nvPr/>
        </p:nvSpPr>
        <p:spPr>
          <a:xfrm>
            <a:off x="8381880" y="1952640"/>
            <a:ext cx="66240" cy="2381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66" name="CustomShape 17"/>
          <p:cNvSpPr/>
          <p:nvPr/>
        </p:nvSpPr>
        <p:spPr>
          <a:xfrm>
            <a:off x="8591400" y="2052000"/>
            <a:ext cx="281916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展示問題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CustomShape 18"/>
          <p:cNvSpPr/>
          <p:nvPr/>
        </p:nvSpPr>
        <p:spPr>
          <a:xfrm>
            <a:off x="8686440" y="2702160"/>
            <a:ext cx="2819160" cy="120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資料分析若停留在 Notebook 或靜態報表，不利於課堂 Demo 與非技術使用者操作。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CustomShape 19"/>
          <p:cNvSpPr/>
          <p:nvPr/>
        </p:nvSpPr>
        <p:spPr>
          <a:xfrm>
            <a:off x="666720" y="4952880"/>
            <a:ext cx="10858320" cy="914040"/>
          </a:xfrm>
          <a:prstGeom prst="roundRect">
            <a:avLst>
              <a:gd name="adj" fmla="val 8333"/>
            </a:avLst>
          </a:prstGeom>
          <a:solidFill>
            <a:srgbClr val="E8F1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69" name="CustomShape 20"/>
          <p:cNvSpPr/>
          <p:nvPr/>
        </p:nvSpPr>
        <p:spPr>
          <a:xfrm>
            <a:off x="1000080" y="5252580"/>
            <a:ext cx="10096200" cy="476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50000"/>
              </a:lnSpc>
            </a:pPr>
            <a:r>
              <a:rPr lang="en-US" sz="1650" b="1" strike="noStrike" spc="-1" dirty="0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本專題的解法：把資料清洗、統計分析與視覺化封裝成一個可在瀏覽器操作的 Gradio 儀表板。</a:t>
            </a:r>
            <a:endParaRPr lang="en-US" sz="165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CustomShape 21"/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02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72" name="CustomShape 2"/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73" name="CustomShape 3"/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CustomShape 4"/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研究目標：讓航運資料從 CSV 變成決策畫面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CustomShape 5"/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CustomShape 6"/>
          <p:cNvSpPr/>
          <p:nvPr/>
        </p:nvSpPr>
        <p:spPr>
          <a:xfrm>
            <a:off x="876240" y="1571760"/>
            <a:ext cx="2904840" cy="2238120"/>
          </a:xfrm>
          <a:prstGeom prst="roundRect">
            <a:avLst>
              <a:gd name="adj" fmla="val 3404"/>
            </a:avLst>
          </a:prstGeom>
          <a:solidFill>
            <a:srgbClr val="E8F1FF"/>
          </a:solidFill>
          <a:ln w="133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77" name="CustomShape 7"/>
          <p:cNvSpPr/>
          <p:nvPr/>
        </p:nvSpPr>
        <p:spPr>
          <a:xfrm>
            <a:off x="1123920" y="1809720"/>
            <a:ext cx="85680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78" name="CustomShape 8"/>
          <p:cNvSpPr/>
          <p:nvPr/>
        </p:nvSpPr>
        <p:spPr>
          <a:xfrm>
            <a:off x="1238400" y="1886040"/>
            <a:ext cx="62820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目標 1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CustomShape 9"/>
          <p:cNvSpPr/>
          <p:nvPr/>
        </p:nvSpPr>
        <p:spPr>
          <a:xfrm>
            <a:off x="1181160" y="2286000"/>
            <a:ext cx="228564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79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資料標準化</a:t>
            </a:r>
            <a:endParaRPr lang="en-US" sz="187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CustomShape 10"/>
          <p:cNvSpPr/>
          <p:nvPr/>
        </p:nvSpPr>
        <p:spPr>
          <a:xfrm>
            <a:off x="1181160" y="2819520"/>
            <a:ext cx="2285640" cy="66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35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必要欄位檢查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時間與數值轉型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CustomShape 11"/>
          <p:cNvSpPr/>
          <p:nvPr/>
        </p:nvSpPr>
        <p:spPr>
          <a:xfrm>
            <a:off x="3971880" y="2685960"/>
            <a:ext cx="380520" cy="2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82" name="CustomShape 12"/>
          <p:cNvSpPr/>
          <p:nvPr/>
        </p:nvSpPr>
        <p:spPr>
          <a:xfrm>
            <a:off x="4334040" y="2610000"/>
            <a:ext cx="132840" cy="151920"/>
          </a:xfrm>
          <a:prstGeom prst="triangle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83" name="CustomShape 13"/>
          <p:cNvSpPr/>
          <p:nvPr/>
        </p:nvSpPr>
        <p:spPr>
          <a:xfrm>
            <a:off x="4591080" y="1571760"/>
            <a:ext cx="2904840" cy="2238120"/>
          </a:xfrm>
          <a:prstGeom prst="roundRect">
            <a:avLst>
              <a:gd name="adj" fmla="val 3404"/>
            </a:avLst>
          </a:prstGeom>
          <a:solidFill>
            <a:srgbClr val="E6F7FA"/>
          </a:solidFill>
          <a:ln w="133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84" name="CustomShape 14"/>
          <p:cNvSpPr/>
          <p:nvPr/>
        </p:nvSpPr>
        <p:spPr>
          <a:xfrm>
            <a:off x="4838760" y="1809720"/>
            <a:ext cx="85680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85" name="CustomShape 15"/>
          <p:cNvSpPr/>
          <p:nvPr/>
        </p:nvSpPr>
        <p:spPr>
          <a:xfrm>
            <a:off x="4952880" y="1886040"/>
            <a:ext cx="62820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目標 2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CustomShape 16"/>
          <p:cNvSpPr/>
          <p:nvPr/>
        </p:nvSpPr>
        <p:spPr>
          <a:xfrm>
            <a:off x="4896000" y="2286000"/>
            <a:ext cx="228564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79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互動式分析</a:t>
            </a:r>
            <a:endParaRPr lang="en-US" sz="187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7" name="CustomShape 17"/>
          <p:cNvSpPr/>
          <p:nvPr/>
        </p:nvSpPr>
        <p:spPr>
          <a:xfrm>
            <a:off x="4896000" y="2819520"/>
            <a:ext cx="2285640" cy="66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35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港口、航線、船型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TEU 門檻篩選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8" name="CustomShape 18"/>
          <p:cNvSpPr/>
          <p:nvPr/>
        </p:nvSpPr>
        <p:spPr>
          <a:xfrm>
            <a:off x="7686720" y="2685960"/>
            <a:ext cx="380520" cy="2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89" name="CustomShape 19"/>
          <p:cNvSpPr/>
          <p:nvPr/>
        </p:nvSpPr>
        <p:spPr>
          <a:xfrm>
            <a:off x="8048520" y="2610000"/>
            <a:ext cx="132840" cy="151920"/>
          </a:xfrm>
          <a:prstGeom prst="triangle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0" name="CustomShape 20"/>
          <p:cNvSpPr/>
          <p:nvPr/>
        </p:nvSpPr>
        <p:spPr>
          <a:xfrm>
            <a:off x="8305920" y="1571760"/>
            <a:ext cx="2904840" cy="2238120"/>
          </a:xfrm>
          <a:prstGeom prst="roundRect">
            <a:avLst>
              <a:gd name="adj" fmla="val 3404"/>
            </a:avLst>
          </a:prstGeom>
          <a:solidFill>
            <a:srgbClr val="E8F7EE"/>
          </a:solidFill>
          <a:ln w="133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1" name="CustomShape 21"/>
          <p:cNvSpPr/>
          <p:nvPr/>
        </p:nvSpPr>
        <p:spPr>
          <a:xfrm>
            <a:off x="8553600" y="1809720"/>
            <a:ext cx="85680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2" name="CustomShape 22"/>
          <p:cNvSpPr/>
          <p:nvPr/>
        </p:nvSpPr>
        <p:spPr>
          <a:xfrm>
            <a:off x="8667720" y="1886040"/>
            <a:ext cx="62820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0F766E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目標 3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CustomShape 23"/>
          <p:cNvSpPr/>
          <p:nvPr/>
        </p:nvSpPr>
        <p:spPr>
          <a:xfrm>
            <a:off x="8610480" y="2286000"/>
            <a:ext cx="228564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79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營運洞察</a:t>
            </a:r>
            <a:endParaRPr lang="en-US" sz="187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CustomShape 24"/>
          <p:cNvSpPr/>
          <p:nvPr/>
        </p:nvSpPr>
        <p:spPr>
          <a:xfrm>
            <a:off x="8610480" y="2819520"/>
            <a:ext cx="2285640" cy="66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35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KPI、圖表、表格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延誤與壅塞比較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5" name="CustomShape 25"/>
          <p:cNvSpPr/>
          <p:nvPr/>
        </p:nvSpPr>
        <p:spPr>
          <a:xfrm>
            <a:off x="1428840" y="4552920"/>
            <a:ext cx="9334080" cy="95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44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6" name="CustomShape 26"/>
          <p:cNvSpPr/>
          <p:nvPr/>
        </p:nvSpPr>
        <p:spPr>
          <a:xfrm>
            <a:off x="1809720" y="4857840"/>
            <a:ext cx="857232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580" b="1" strike="noStrike" spc="-1" dirty="0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量化工作項目：完成資料清洗輸出、完成 Gradio 介面、完成港口/航線績效分析與基本測試。</a:t>
            </a:r>
            <a:endParaRPr lang="en-US" sz="158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CustomShape 27"/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03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9" name="CustomShape 2"/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00" name="CustomShape 3"/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資料集：模擬港口物流紀錄支撐穩定 Demo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CustomShape 5"/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CustomShape 6"/>
          <p:cNvSpPr/>
          <p:nvPr/>
        </p:nvSpPr>
        <p:spPr>
          <a:xfrm>
            <a:off x="666720" y="1000080"/>
            <a:ext cx="9810360" cy="41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540" b="1" strike="noStrike" spc="-1" dirty="0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內建資料採用自建模擬 CSV，欄位參考港口營運常見指標，避免 Demo 時受外部 API 或商業資料限制影響。</a:t>
            </a:r>
            <a:endParaRPr lang="en-US" sz="154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CustomShape 7"/>
          <p:cNvSpPr/>
          <p:nvPr/>
        </p:nvSpPr>
        <p:spPr>
          <a:xfrm>
            <a:off x="762120" y="1714680"/>
            <a:ext cx="1523520" cy="95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05" name="CustomShape 8"/>
          <p:cNvSpPr/>
          <p:nvPr/>
        </p:nvSpPr>
        <p:spPr>
          <a:xfrm>
            <a:off x="933480" y="1866960"/>
            <a:ext cx="1180800" cy="361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250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60</a:t>
            </a:r>
            <a:endParaRPr lang="en-US" sz="22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6" name="CustomShape 9"/>
          <p:cNvSpPr/>
          <p:nvPr/>
        </p:nvSpPr>
        <p:spPr>
          <a:xfrm>
            <a:off x="933480" y="2286000"/>
            <a:ext cx="1180800" cy="24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資料筆數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7" name="CustomShape 10"/>
          <p:cNvSpPr/>
          <p:nvPr/>
        </p:nvSpPr>
        <p:spPr>
          <a:xfrm>
            <a:off x="2523960" y="1714680"/>
            <a:ext cx="1523520" cy="95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08" name="CustomShape 11"/>
          <p:cNvSpPr/>
          <p:nvPr/>
        </p:nvSpPr>
        <p:spPr>
          <a:xfrm>
            <a:off x="2695680" y="1866960"/>
            <a:ext cx="1180800" cy="361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25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5</a:t>
            </a:r>
            <a:endParaRPr lang="en-US" sz="22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9" name="CustomShape 12"/>
          <p:cNvSpPr/>
          <p:nvPr/>
        </p:nvSpPr>
        <p:spPr>
          <a:xfrm>
            <a:off x="2695680" y="2286000"/>
            <a:ext cx="1180800" cy="24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港口數量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CustomShape 13"/>
          <p:cNvSpPr/>
          <p:nvPr/>
        </p:nvSpPr>
        <p:spPr>
          <a:xfrm>
            <a:off x="4286160" y="1714680"/>
            <a:ext cx="1523520" cy="95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11" name="CustomShape 14"/>
          <p:cNvSpPr/>
          <p:nvPr/>
        </p:nvSpPr>
        <p:spPr>
          <a:xfrm>
            <a:off x="4457880" y="1866960"/>
            <a:ext cx="1180800" cy="361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250" b="1" strike="noStrike" spc="-1">
                <a:solidFill>
                  <a:srgbClr val="0F766E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5 月</a:t>
            </a:r>
            <a:endParaRPr lang="en-US" sz="22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2" name="CustomShape 15"/>
          <p:cNvSpPr/>
          <p:nvPr/>
        </p:nvSpPr>
        <p:spPr>
          <a:xfrm>
            <a:off x="4457880" y="2286000"/>
            <a:ext cx="1180800" cy="24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日期範圍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3" name="CustomShape 16"/>
          <p:cNvSpPr/>
          <p:nvPr/>
        </p:nvSpPr>
        <p:spPr>
          <a:xfrm>
            <a:off x="6048360" y="1714680"/>
            <a:ext cx="1809360" cy="95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14" name="CustomShape 17"/>
          <p:cNvSpPr/>
          <p:nvPr/>
        </p:nvSpPr>
        <p:spPr>
          <a:xfrm>
            <a:off x="6219720" y="1866960"/>
            <a:ext cx="1466640" cy="361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250" b="1" strike="noStrike" spc="-1">
                <a:solidFill>
                  <a:srgbClr val="F59E0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CSV</a:t>
            </a:r>
            <a:endParaRPr lang="en-US" sz="22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5" name="CustomShape 18"/>
          <p:cNvSpPr/>
          <p:nvPr/>
        </p:nvSpPr>
        <p:spPr>
          <a:xfrm>
            <a:off x="6219720" y="2286000"/>
            <a:ext cx="1466640" cy="24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主要格式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6" name="CustomShape 19"/>
          <p:cNvSpPr/>
          <p:nvPr/>
        </p:nvSpPr>
        <p:spPr>
          <a:xfrm>
            <a:off x="762120" y="3191040"/>
            <a:ext cx="4285800" cy="2190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17" name="CustomShape 20"/>
          <p:cNvSpPr/>
          <p:nvPr/>
        </p:nvSpPr>
        <p:spPr>
          <a:xfrm>
            <a:off x="1047600" y="3429000"/>
            <a:ext cx="180936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6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核心欄位</a:t>
            </a:r>
            <a:endParaRPr lang="en-US" sz="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8" name="CustomShape 21"/>
          <p:cNvSpPr/>
          <p:nvPr/>
        </p:nvSpPr>
        <p:spPr>
          <a:xfrm>
            <a:off x="1047600" y="3867120"/>
            <a:ext cx="3714480" cy="87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28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timestamp、port_name、route、vessel_imo、vessel_type、turnaround_hours、cargo_teu、avg_speed_knots、delay_status</a:t>
            </a:r>
            <a:endParaRPr lang="en-US" sz="12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9" name="CustomShape 22"/>
          <p:cNvSpPr/>
          <p:nvPr/>
        </p:nvSpPr>
        <p:spPr>
          <a:xfrm>
            <a:off x="5810400" y="3191040"/>
            <a:ext cx="5333760" cy="2190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20" name="CustomShape 23"/>
          <p:cNvSpPr/>
          <p:nvPr/>
        </p:nvSpPr>
        <p:spPr>
          <a:xfrm>
            <a:off x="6095880" y="3429000"/>
            <a:ext cx="20952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6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港口 TEU 概況</a:t>
            </a:r>
            <a:endParaRPr lang="en-US" sz="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1" name="CustomShape 24"/>
          <p:cNvSpPr/>
          <p:nvPr/>
        </p:nvSpPr>
        <p:spPr>
          <a:xfrm>
            <a:off x="6095880" y="3895560"/>
            <a:ext cx="89496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Shanghai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2" name="CustomShape 25"/>
          <p:cNvSpPr/>
          <p:nvPr/>
        </p:nvSpPr>
        <p:spPr>
          <a:xfrm>
            <a:off x="7086600" y="3857760"/>
            <a:ext cx="3580920" cy="247320"/>
          </a:xfrm>
          <a:prstGeom prst="roundRect">
            <a:avLst>
              <a:gd name="adj" fmla="val 30769"/>
            </a:avLst>
          </a:prstGeom>
          <a:solidFill>
            <a:srgbClr val="E2E8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23" name="CustomShape 26"/>
          <p:cNvSpPr/>
          <p:nvPr/>
        </p:nvSpPr>
        <p:spPr>
          <a:xfrm>
            <a:off x="7086600" y="3857760"/>
            <a:ext cx="3543120" cy="247320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24" name="CustomShape 27"/>
          <p:cNvSpPr/>
          <p:nvPr/>
        </p:nvSpPr>
        <p:spPr>
          <a:xfrm>
            <a:off x="7162920" y="3905280"/>
            <a:ext cx="339048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83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105,000 TEU</a:t>
            </a:r>
            <a:endParaRPr lang="en-US" sz="8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5" name="CustomShape 28"/>
          <p:cNvSpPr/>
          <p:nvPr/>
        </p:nvSpPr>
        <p:spPr>
          <a:xfrm>
            <a:off x="6095880" y="4276800"/>
            <a:ext cx="89496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Singapore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6" name="CustomShape 29"/>
          <p:cNvSpPr/>
          <p:nvPr/>
        </p:nvSpPr>
        <p:spPr>
          <a:xfrm>
            <a:off x="7086600" y="4238640"/>
            <a:ext cx="3580920" cy="247320"/>
          </a:xfrm>
          <a:prstGeom prst="roundRect">
            <a:avLst>
              <a:gd name="adj" fmla="val 30769"/>
            </a:avLst>
          </a:prstGeom>
          <a:solidFill>
            <a:srgbClr val="E2E8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27" name="CustomShape 30"/>
          <p:cNvSpPr/>
          <p:nvPr/>
        </p:nvSpPr>
        <p:spPr>
          <a:xfrm>
            <a:off x="7086600" y="4238640"/>
            <a:ext cx="3047760" cy="247320"/>
          </a:xfrm>
          <a:prstGeom prst="roundRect">
            <a:avLst>
              <a:gd name="adj" fmla="val 30769"/>
            </a:avLst>
          </a:prstGeom>
          <a:solidFill>
            <a:srgbClr val="0891B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28" name="CustomShape 31"/>
          <p:cNvSpPr/>
          <p:nvPr/>
        </p:nvSpPr>
        <p:spPr>
          <a:xfrm>
            <a:off x="7162920" y="4286160"/>
            <a:ext cx="339048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83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90,400 TEU</a:t>
            </a:r>
            <a:endParaRPr lang="en-US" sz="8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9" name="CustomShape 32"/>
          <p:cNvSpPr/>
          <p:nvPr/>
        </p:nvSpPr>
        <p:spPr>
          <a:xfrm>
            <a:off x="6095880" y="4657680"/>
            <a:ext cx="89496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111827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Rotterdam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0" name="CustomShape 33"/>
          <p:cNvSpPr/>
          <p:nvPr/>
        </p:nvSpPr>
        <p:spPr>
          <a:xfrm>
            <a:off x="7086600" y="4619520"/>
            <a:ext cx="3580920" cy="247320"/>
          </a:xfrm>
          <a:prstGeom prst="roundRect">
            <a:avLst>
              <a:gd name="adj" fmla="val 30769"/>
            </a:avLst>
          </a:prstGeom>
          <a:solidFill>
            <a:srgbClr val="E2E8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31" name="CustomShape 34"/>
          <p:cNvSpPr/>
          <p:nvPr/>
        </p:nvSpPr>
        <p:spPr>
          <a:xfrm>
            <a:off x="7086600" y="4619520"/>
            <a:ext cx="2685600" cy="247320"/>
          </a:xfrm>
          <a:prstGeom prst="roundRect">
            <a:avLst>
              <a:gd name="adj" fmla="val 30769"/>
            </a:avLst>
          </a:prstGeom>
          <a:solidFill>
            <a:srgbClr val="0F766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32" name="CustomShape 35"/>
          <p:cNvSpPr/>
          <p:nvPr/>
        </p:nvSpPr>
        <p:spPr>
          <a:xfrm>
            <a:off x="7162920" y="4667400"/>
            <a:ext cx="339048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83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79,500 TEU</a:t>
            </a:r>
            <a:endParaRPr lang="en-US" sz="8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3" name="CustomShape 36"/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04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35" name="CustomShape 2"/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36" name="CustomShape 3"/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7" name="CustomShape 4"/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系統架構：四個模組串成端到端資料管線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8" name="CustomShape 5"/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9" name="CustomShape 6"/>
          <p:cNvSpPr/>
          <p:nvPr/>
        </p:nvSpPr>
        <p:spPr>
          <a:xfrm>
            <a:off x="666720" y="1000080"/>
            <a:ext cx="9429480" cy="361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58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架構重點是把讀檔、清洗、分析、介面分離，方便測試與後續替換真實資料來源。</a:t>
            </a:r>
            <a:endParaRPr lang="en-US" sz="15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0" name="圖片 139"/>
          <p:cNvPicPr/>
          <p:nvPr/>
        </p:nvPicPr>
        <p:blipFill>
          <a:blip r:embed="rId3"/>
          <a:srcRect r="10216" b="31203"/>
          <a:stretch>
            <a:fillRect/>
          </a:stretch>
        </p:blipFill>
        <p:spPr>
          <a:xfrm>
            <a:off x="2068679" y="1808640"/>
            <a:ext cx="8054401" cy="1768680"/>
          </a:xfrm>
          <a:prstGeom prst="rect">
            <a:avLst/>
          </a:prstGeom>
          <a:ln>
            <a:noFill/>
          </a:ln>
        </p:spPr>
      </p:pic>
      <p:sp>
        <p:nvSpPr>
          <p:cNvPr id="141" name="CustomShape 7"/>
          <p:cNvSpPr/>
          <p:nvPr/>
        </p:nvSpPr>
        <p:spPr>
          <a:xfrm>
            <a:off x="2160000" y="3967200"/>
            <a:ext cx="2190240" cy="304560"/>
          </a:xfrm>
          <a:prstGeom prst="roundRect">
            <a:avLst>
              <a:gd name="adj" fmla="val 25000"/>
            </a:avLst>
          </a:prstGeom>
          <a:solidFill>
            <a:srgbClr val="E8F1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42" name="CustomShape 8"/>
          <p:cNvSpPr/>
          <p:nvPr/>
        </p:nvSpPr>
        <p:spPr>
          <a:xfrm>
            <a:off x="2331360" y="4033800"/>
            <a:ext cx="184752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020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data_loader.py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3" name="CustomShape 9"/>
          <p:cNvSpPr/>
          <p:nvPr/>
        </p:nvSpPr>
        <p:spPr>
          <a:xfrm>
            <a:off x="4636440" y="4024440"/>
            <a:ext cx="581004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讀取內建 CSV 或上傳檔案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4" name="CustomShape 10"/>
          <p:cNvSpPr/>
          <p:nvPr/>
        </p:nvSpPr>
        <p:spPr>
          <a:xfrm>
            <a:off x="2160000" y="4367160"/>
            <a:ext cx="2190240" cy="304560"/>
          </a:xfrm>
          <a:prstGeom prst="roundRect">
            <a:avLst>
              <a:gd name="adj" fmla="val 25000"/>
            </a:avLst>
          </a:prstGeom>
          <a:solidFill>
            <a:srgbClr val="E8F1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45" name="CustomShape 11"/>
          <p:cNvSpPr/>
          <p:nvPr/>
        </p:nvSpPr>
        <p:spPr>
          <a:xfrm>
            <a:off x="2331360" y="4434120"/>
            <a:ext cx="184752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020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clean_data.py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6" name="CustomShape 12"/>
          <p:cNvSpPr/>
          <p:nvPr/>
        </p:nvSpPr>
        <p:spPr>
          <a:xfrm>
            <a:off x="4636440" y="4424400"/>
            <a:ext cx="581004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欄位檢查、缺失補值、異常值與重複值處理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7" name="CustomShape 13"/>
          <p:cNvSpPr/>
          <p:nvPr/>
        </p:nvSpPr>
        <p:spPr>
          <a:xfrm>
            <a:off x="2160000" y="4767480"/>
            <a:ext cx="2190240" cy="304560"/>
          </a:xfrm>
          <a:prstGeom prst="roundRect">
            <a:avLst>
              <a:gd name="adj" fmla="val 25000"/>
            </a:avLst>
          </a:prstGeom>
          <a:solidFill>
            <a:srgbClr val="E8F1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48" name="CustomShape 14"/>
          <p:cNvSpPr/>
          <p:nvPr/>
        </p:nvSpPr>
        <p:spPr>
          <a:xfrm>
            <a:off x="2331360" y="4834080"/>
            <a:ext cx="184752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020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analyze_data.py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9" name="CustomShape 15"/>
          <p:cNvSpPr/>
          <p:nvPr/>
        </p:nvSpPr>
        <p:spPr>
          <a:xfrm>
            <a:off x="4636440" y="4824360"/>
            <a:ext cx="581004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KPI、港口績效、航線績效與圖表資料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</p:txBody>
      </p:sp>
      <p:sp>
        <p:nvSpPr>
          <p:cNvPr id="150" name="CustomShape 16"/>
          <p:cNvSpPr/>
          <p:nvPr/>
        </p:nvSpPr>
        <p:spPr>
          <a:xfrm>
            <a:off x="2160000" y="5167440"/>
            <a:ext cx="2190240" cy="304560"/>
          </a:xfrm>
          <a:prstGeom prst="roundRect">
            <a:avLst>
              <a:gd name="adj" fmla="val 25000"/>
            </a:avLst>
          </a:prstGeom>
          <a:solidFill>
            <a:srgbClr val="E8F1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51" name="CustomShape 17"/>
          <p:cNvSpPr/>
          <p:nvPr/>
        </p:nvSpPr>
        <p:spPr>
          <a:xfrm>
            <a:off x="2331360" y="5234040"/>
            <a:ext cx="184752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020" b="1" strike="noStrike" spc="-1" dirty="0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gradio_app.py</a:t>
            </a:r>
            <a:endParaRPr lang="en-US" sz="102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2" name="CustomShape 18"/>
          <p:cNvSpPr/>
          <p:nvPr/>
        </p:nvSpPr>
        <p:spPr>
          <a:xfrm>
            <a:off x="4636440" y="5224680"/>
            <a:ext cx="581004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篩選控制、資料分頁、圖表與洞察文字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3" name="CustomShape 19"/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05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55" name="CustomShape 2"/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56" name="CustomShape 3"/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資料清洗流程：先確保資料可信，再產生圖表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59" name="圖片 158"/>
          <p:cNvPicPr/>
          <p:nvPr/>
        </p:nvPicPr>
        <p:blipFill>
          <a:blip r:embed="rId3"/>
          <a:srcRect r="10733" b="30720"/>
          <a:stretch>
            <a:fillRect/>
          </a:stretch>
        </p:blipFill>
        <p:spPr>
          <a:xfrm>
            <a:off x="2205180" y="1468260"/>
            <a:ext cx="7266600" cy="1616040"/>
          </a:xfrm>
          <a:prstGeom prst="rect">
            <a:avLst/>
          </a:prstGeom>
          <a:ln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857160" y="3666960"/>
            <a:ext cx="2395800" cy="18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61" name="CustomShape 7"/>
          <p:cNvSpPr/>
          <p:nvPr/>
        </p:nvSpPr>
        <p:spPr>
          <a:xfrm>
            <a:off x="857160" y="3666960"/>
            <a:ext cx="66240" cy="1805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62" name="CustomShape 8"/>
          <p:cNvSpPr/>
          <p:nvPr/>
        </p:nvSpPr>
        <p:spPr>
          <a:xfrm>
            <a:off x="1066680" y="3838680"/>
            <a:ext cx="205704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欄位校驗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9"/>
          <p:cNvSpPr/>
          <p:nvPr/>
        </p:nvSpPr>
        <p:spPr>
          <a:xfrm>
            <a:off x="1066680" y="4162320"/>
            <a:ext cx="2057040" cy="1165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檢查 timestamp、port_name、route、cargo_teu 等必要欄位。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4" name="CustomShape 10"/>
          <p:cNvSpPr/>
          <p:nvPr/>
        </p:nvSpPr>
        <p:spPr>
          <a:xfrm>
            <a:off x="3571920" y="3666960"/>
            <a:ext cx="2448000" cy="18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65" name="CustomShape 11"/>
          <p:cNvSpPr/>
          <p:nvPr/>
        </p:nvSpPr>
        <p:spPr>
          <a:xfrm>
            <a:off x="3571920" y="3666960"/>
            <a:ext cx="64800" cy="180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66" name="CustomShape 12"/>
          <p:cNvSpPr/>
          <p:nvPr/>
        </p:nvSpPr>
        <p:spPr>
          <a:xfrm>
            <a:off x="3781440" y="3838680"/>
            <a:ext cx="205704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型態導正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7" name="CustomShape 13"/>
          <p:cNvSpPr/>
          <p:nvPr/>
        </p:nvSpPr>
        <p:spPr>
          <a:xfrm>
            <a:off x="3781440" y="4162320"/>
            <a:ext cx="2057040" cy="866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時間欄位轉 datetime，TEU、滯港、航速轉數值。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</p:txBody>
      </p:sp>
      <p:sp>
        <p:nvSpPr>
          <p:cNvPr id="168" name="CustomShape 14"/>
          <p:cNvSpPr/>
          <p:nvPr/>
        </p:nvSpPr>
        <p:spPr>
          <a:xfrm>
            <a:off x="6286680" y="3666960"/>
            <a:ext cx="2448000" cy="18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69" name="CustomShape 15"/>
          <p:cNvSpPr/>
          <p:nvPr/>
        </p:nvSpPr>
        <p:spPr>
          <a:xfrm>
            <a:off x="6286680" y="3666960"/>
            <a:ext cx="64800" cy="18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70" name="CustomShape 16"/>
          <p:cNvSpPr/>
          <p:nvPr/>
        </p:nvSpPr>
        <p:spPr>
          <a:xfrm>
            <a:off x="6496200" y="3838680"/>
            <a:ext cx="205704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品質修補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CustomShape 17"/>
          <p:cNvSpPr/>
          <p:nvPr/>
        </p:nvSpPr>
        <p:spPr>
          <a:xfrm>
            <a:off x="6496200" y="4162320"/>
            <a:ext cx="2057040" cy="866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缺失值以港口中位數補齊，離群值與重複資料移除。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</p:txBody>
      </p:sp>
      <p:sp>
        <p:nvSpPr>
          <p:cNvPr id="172" name="CustomShape 18"/>
          <p:cNvSpPr/>
          <p:nvPr/>
        </p:nvSpPr>
        <p:spPr>
          <a:xfrm>
            <a:off x="9001080" y="3666960"/>
            <a:ext cx="2520000" cy="1800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73" name="CustomShape 19"/>
          <p:cNvSpPr/>
          <p:nvPr/>
        </p:nvSpPr>
        <p:spPr>
          <a:xfrm>
            <a:off x="9001080" y="3666960"/>
            <a:ext cx="64800" cy="18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74" name="CustomShape 20"/>
          <p:cNvSpPr/>
          <p:nvPr/>
        </p:nvSpPr>
        <p:spPr>
          <a:xfrm>
            <a:off x="9730440" y="3838680"/>
            <a:ext cx="1017720" cy="338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</a:rPr>
              <a:t>輸出成品</a:t>
            </a:r>
            <a:endParaRPr lang="en-US" sz="2000" b="1" strike="noStrike" spc="-1">
              <a:solidFill>
                <a:srgbClr val="0B2545"/>
              </a:solidFill>
              <a:uFill>
                <a:solidFill>
                  <a:srgbClr val="FFFFFF"/>
                </a:solidFill>
              </a:uFill>
              <a:latin typeface="Aptos"/>
              <a:ea typeface="Aptos"/>
            </a:endParaRPr>
          </a:p>
        </p:txBody>
      </p:sp>
      <p:sp>
        <p:nvSpPr>
          <p:cNvPr id="175" name="CustomShape 21"/>
          <p:cNvSpPr/>
          <p:nvPr/>
        </p:nvSpPr>
        <p:spPr>
          <a:xfrm>
            <a:off x="9210600" y="4162320"/>
            <a:ext cx="2165400" cy="866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寫出 data/processed/cleaned_shipping_data.csv 供分析。</a:t>
            </a:r>
            <a:endParaRPr lang="en-US" sz="1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CustomShape 22"/>
          <p:cNvSpPr/>
          <p:nvPr/>
        </p:nvSpPr>
        <p:spPr>
          <a:xfrm>
            <a:off x="1428840" y="5853600"/>
            <a:ext cx="933408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5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清洗結果：內建 60 筆資料通過清洗，並自動新增 date、month、is_delayed 等分析欄位</a:t>
            </a:r>
            <a:endParaRPr lang="en-US" sz="15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7" name="CustomShape 23"/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06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8D53C-9053-6DFE-E0D3-2EAE7F0E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>
            <a:extLst>
              <a:ext uri="{FF2B5EF4-FFF2-40B4-BE49-F238E27FC236}">
                <a16:creationId xmlns:a16="http://schemas.microsoft.com/office/drawing/2014/main" id="{D757F9D8-22C1-06B8-BAB4-1029E5962466}"/>
              </a:ext>
            </a:extLst>
          </p:cNvPr>
          <p:cNvSpPr/>
          <p:nvPr/>
        </p:nvSpPr>
        <p:spPr>
          <a:xfrm>
            <a:off x="0" y="18600"/>
            <a:ext cx="12191760" cy="6857640"/>
          </a:xfrm>
          <a:prstGeom prst="rect">
            <a:avLst/>
          </a:prstGeom>
          <a:solidFill>
            <a:srgbClr val="F8FAFC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79" name="CustomShape 2">
            <a:extLst>
              <a:ext uri="{FF2B5EF4-FFF2-40B4-BE49-F238E27FC236}">
                <a16:creationId xmlns:a16="http://schemas.microsoft.com/office/drawing/2014/main" id="{3A52670D-8D6E-7DA2-4A87-5066315B973C}"/>
              </a:ext>
            </a:extLst>
          </p:cNvPr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0" name="CustomShape 3">
            <a:extLst>
              <a:ext uri="{FF2B5EF4-FFF2-40B4-BE49-F238E27FC236}">
                <a16:creationId xmlns:a16="http://schemas.microsoft.com/office/drawing/2014/main" id="{DFD658F3-86A3-45C2-61EA-769CAB3DE304}"/>
              </a:ext>
            </a:extLst>
          </p:cNvPr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4">
            <a:extLst>
              <a:ext uri="{FF2B5EF4-FFF2-40B4-BE49-F238E27FC236}">
                <a16:creationId xmlns:a16="http://schemas.microsoft.com/office/drawing/2014/main" id="{6C81207A-FCC4-90EE-9E39-46E7BE5021C0}"/>
              </a:ext>
            </a:extLst>
          </p:cNvPr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系統介面：左側操作、右側洞察、下方資料分頁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5">
            <a:extLst>
              <a:ext uri="{FF2B5EF4-FFF2-40B4-BE49-F238E27FC236}">
                <a16:creationId xmlns:a16="http://schemas.microsoft.com/office/drawing/2014/main" id="{B623CEDD-9404-DDF2-6A5D-F407062F9603}"/>
              </a:ext>
            </a:extLst>
          </p:cNvPr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3" name="CustomShape 6">
            <a:extLst>
              <a:ext uri="{FF2B5EF4-FFF2-40B4-BE49-F238E27FC236}">
                <a16:creationId xmlns:a16="http://schemas.microsoft.com/office/drawing/2014/main" id="{EE998D33-2870-0883-551F-77F9F27D5E62}"/>
              </a:ext>
            </a:extLst>
          </p:cNvPr>
          <p:cNvSpPr/>
          <p:nvPr/>
        </p:nvSpPr>
        <p:spPr>
          <a:xfrm>
            <a:off x="743040" y="1123920"/>
            <a:ext cx="2952360" cy="4762080"/>
          </a:xfrm>
          <a:prstGeom prst="roundRect">
            <a:avLst>
              <a:gd name="adj" fmla="val 2581"/>
            </a:avLst>
          </a:prstGeom>
          <a:solidFill>
            <a:srgbClr val="EEF6FF"/>
          </a:solidFill>
          <a:ln w="1224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4" name="CustomShape 7">
            <a:extLst>
              <a:ext uri="{FF2B5EF4-FFF2-40B4-BE49-F238E27FC236}">
                <a16:creationId xmlns:a16="http://schemas.microsoft.com/office/drawing/2014/main" id="{0F3369C3-130B-96A6-7B3B-66223BA295A7}"/>
              </a:ext>
            </a:extLst>
          </p:cNvPr>
          <p:cNvSpPr/>
          <p:nvPr/>
        </p:nvSpPr>
        <p:spPr>
          <a:xfrm>
            <a:off x="1028880" y="1409760"/>
            <a:ext cx="1142640" cy="28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操作區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5" name="CustomShape 8">
            <a:extLst>
              <a:ext uri="{FF2B5EF4-FFF2-40B4-BE49-F238E27FC236}">
                <a16:creationId xmlns:a16="http://schemas.microsoft.com/office/drawing/2014/main" id="{9EB6BBE2-C106-A1A5-F77A-C975852F01EC}"/>
              </a:ext>
            </a:extLst>
          </p:cNvPr>
          <p:cNvSpPr/>
          <p:nvPr/>
        </p:nvSpPr>
        <p:spPr>
          <a:xfrm>
            <a:off x="1066680" y="192420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6" name="CustomShape 9">
            <a:extLst>
              <a:ext uri="{FF2B5EF4-FFF2-40B4-BE49-F238E27FC236}">
                <a16:creationId xmlns:a16="http://schemas.microsoft.com/office/drawing/2014/main" id="{B3E04274-D644-8253-50E2-11C85BEC700C}"/>
              </a:ext>
            </a:extLst>
          </p:cNvPr>
          <p:cNvSpPr/>
          <p:nvPr/>
        </p:nvSpPr>
        <p:spPr>
          <a:xfrm>
            <a:off x="1181160" y="200016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CSV 上傳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7" name="CustomShape 10">
            <a:extLst>
              <a:ext uri="{FF2B5EF4-FFF2-40B4-BE49-F238E27FC236}">
                <a16:creationId xmlns:a16="http://schemas.microsoft.com/office/drawing/2014/main" id="{F7E64CF7-6AAA-F825-658F-08C34114702B}"/>
              </a:ext>
            </a:extLst>
          </p:cNvPr>
          <p:cNvSpPr/>
          <p:nvPr/>
        </p:nvSpPr>
        <p:spPr>
          <a:xfrm>
            <a:off x="1066680" y="240048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8" name="CustomShape 11">
            <a:extLst>
              <a:ext uri="{FF2B5EF4-FFF2-40B4-BE49-F238E27FC236}">
                <a16:creationId xmlns:a16="http://schemas.microsoft.com/office/drawing/2014/main" id="{5E7F60C5-C000-8F01-8380-1B8E1BA17545}"/>
              </a:ext>
            </a:extLst>
          </p:cNvPr>
          <p:cNvSpPr/>
          <p:nvPr/>
        </p:nvSpPr>
        <p:spPr>
          <a:xfrm>
            <a:off x="1181160" y="247644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港口 / 航線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9" name="CustomShape 12">
            <a:extLst>
              <a:ext uri="{FF2B5EF4-FFF2-40B4-BE49-F238E27FC236}">
                <a16:creationId xmlns:a16="http://schemas.microsoft.com/office/drawing/2014/main" id="{9AAEC3E4-238F-EB52-6F6A-788BF3295BFA}"/>
              </a:ext>
            </a:extLst>
          </p:cNvPr>
          <p:cNvSpPr/>
          <p:nvPr/>
        </p:nvSpPr>
        <p:spPr>
          <a:xfrm>
            <a:off x="1066680" y="287640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0" name="CustomShape 13">
            <a:extLst>
              <a:ext uri="{FF2B5EF4-FFF2-40B4-BE49-F238E27FC236}">
                <a16:creationId xmlns:a16="http://schemas.microsoft.com/office/drawing/2014/main" id="{1CBFA049-B912-2CCC-2754-BEC2434F124E}"/>
              </a:ext>
            </a:extLst>
          </p:cNvPr>
          <p:cNvSpPr/>
          <p:nvPr/>
        </p:nvSpPr>
        <p:spPr>
          <a:xfrm>
            <a:off x="1181160" y="295272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船舶類型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1" name="CustomShape 14">
            <a:extLst>
              <a:ext uri="{FF2B5EF4-FFF2-40B4-BE49-F238E27FC236}">
                <a16:creationId xmlns:a16="http://schemas.microsoft.com/office/drawing/2014/main" id="{8464241A-AF49-D383-5EC1-56FA097F3FBD}"/>
              </a:ext>
            </a:extLst>
          </p:cNvPr>
          <p:cNvSpPr/>
          <p:nvPr/>
        </p:nvSpPr>
        <p:spPr>
          <a:xfrm>
            <a:off x="1066680" y="335268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2" name="CustomShape 15">
            <a:extLst>
              <a:ext uri="{FF2B5EF4-FFF2-40B4-BE49-F238E27FC236}">
                <a16:creationId xmlns:a16="http://schemas.microsoft.com/office/drawing/2014/main" id="{0562E999-8729-D0E3-37B3-86CB2A327814}"/>
              </a:ext>
            </a:extLst>
          </p:cNvPr>
          <p:cNvSpPr/>
          <p:nvPr/>
        </p:nvSpPr>
        <p:spPr>
          <a:xfrm>
            <a:off x="1181160" y="342900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最低 TEU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3" name="CustomShape 16">
            <a:extLst>
              <a:ext uri="{FF2B5EF4-FFF2-40B4-BE49-F238E27FC236}">
                <a16:creationId xmlns:a16="http://schemas.microsoft.com/office/drawing/2014/main" id="{D4CBFD6C-0450-3A7B-93B3-724E5AB68255}"/>
              </a:ext>
            </a:extLst>
          </p:cNvPr>
          <p:cNvSpPr/>
          <p:nvPr/>
        </p:nvSpPr>
        <p:spPr>
          <a:xfrm>
            <a:off x="1066680" y="382896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4" name="CustomShape 17">
            <a:extLst>
              <a:ext uri="{FF2B5EF4-FFF2-40B4-BE49-F238E27FC236}">
                <a16:creationId xmlns:a16="http://schemas.microsoft.com/office/drawing/2014/main" id="{72F4C6E7-37C0-8DDF-C4AA-EBF219EC6534}"/>
              </a:ext>
            </a:extLst>
          </p:cNvPr>
          <p:cNvSpPr/>
          <p:nvPr/>
        </p:nvSpPr>
        <p:spPr>
          <a:xfrm>
            <a:off x="1181160" y="390528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分析指標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5" name="CustomShape 18">
            <a:extLst>
              <a:ext uri="{FF2B5EF4-FFF2-40B4-BE49-F238E27FC236}">
                <a16:creationId xmlns:a16="http://schemas.microsoft.com/office/drawing/2014/main" id="{9DFAE3A3-06E3-39C7-170B-33DF57560F58}"/>
              </a:ext>
            </a:extLst>
          </p:cNvPr>
          <p:cNvSpPr/>
          <p:nvPr/>
        </p:nvSpPr>
        <p:spPr>
          <a:xfrm>
            <a:off x="1066680" y="430524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6" name="CustomShape 19">
            <a:extLst>
              <a:ext uri="{FF2B5EF4-FFF2-40B4-BE49-F238E27FC236}">
                <a16:creationId xmlns:a16="http://schemas.microsoft.com/office/drawing/2014/main" id="{C1004E8F-37A5-62E6-815B-EB6E97ABC0C3}"/>
              </a:ext>
            </a:extLst>
          </p:cNvPr>
          <p:cNvSpPr/>
          <p:nvPr/>
        </p:nvSpPr>
        <p:spPr>
          <a:xfrm>
            <a:off x="1181160" y="438156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圖表類型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7" name="CustomShape 20">
            <a:extLst>
              <a:ext uri="{FF2B5EF4-FFF2-40B4-BE49-F238E27FC236}">
                <a16:creationId xmlns:a16="http://schemas.microsoft.com/office/drawing/2014/main" id="{3CFB45E5-E195-0AA5-DCD0-5646C6A7B8C1}"/>
              </a:ext>
            </a:extLst>
          </p:cNvPr>
          <p:cNvSpPr/>
          <p:nvPr/>
        </p:nvSpPr>
        <p:spPr>
          <a:xfrm>
            <a:off x="4191120" y="1123920"/>
            <a:ext cx="3428640" cy="4762080"/>
          </a:xfrm>
          <a:prstGeom prst="roundRect">
            <a:avLst>
              <a:gd name="adj" fmla="val 2222"/>
            </a:avLst>
          </a:prstGeom>
          <a:solidFill>
            <a:srgbClr val="ECFEFF"/>
          </a:solidFill>
          <a:ln w="1224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5" name="CustomShape 28">
            <a:extLst>
              <a:ext uri="{FF2B5EF4-FFF2-40B4-BE49-F238E27FC236}">
                <a16:creationId xmlns:a16="http://schemas.microsoft.com/office/drawing/2014/main" id="{2CABF582-F65D-52A4-75F4-10B3117DE5AC}"/>
              </a:ext>
            </a:extLst>
          </p:cNvPr>
          <p:cNvSpPr/>
          <p:nvPr/>
        </p:nvSpPr>
        <p:spPr>
          <a:xfrm>
            <a:off x="8115480" y="1123920"/>
            <a:ext cx="3333240" cy="4762080"/>
          </a:xfrm>
          <a:prstGeom prst="roundRect">
            <a:avLst>
              <a:gd name="adj" fmla="val 2286"/>
            </a:avLst>
          </a:prstGeom>
          <a:solidFill>
            <a:srgbClr val="F0FDF4"/>
          </a:solidFill>
          <a:ln w="1224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17" name="CustomShape 40">
            <a:extLst>
              <a:ext uri="{FF2B5EF4-FFF2-40B4-BE49-F238E27FC236}">
                <a16:creationId xmlns:a16="http://schemas.microsoft.com/office/drawing/2014/main" id="{8781437D-3BB4-CBAD-8E5F-7C4045C0E859}"/>
              </a:ext>
            </a:extLst>
          </p:cNvPr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07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F22D3A5-18E3-0895-F268-F1E7E4A38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95"/>
          <a:stretch>
            <a:fillRect/>
          </a:stretch>
        </p:blipFill>
        <p:spPr>
          <a:xfrm>
            <a:off x="4342140" y="1286686"/>
            <a:ext cx="2845100" cy="4779268"/>
          </a:xfrm>
          <a:prstGeom prst="rect">
            <a:avLst/>
          </a:prstGeom>
          <a:effectLst/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3B4617D-C8FF-F94E-5F89-7A75182F0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95"/>
          <a:stretch>
            <a:fillRect/>
          </a:stretch>
        </p:blipFill>
        <p:spPr>
          <a:xfrm>
            <a:off x="8165740" y="1210366"/>
            <a:ext cx="2845100" cy="477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1357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565A-C99F-DE3D-0AE5-9AD30E366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>
            <a:extLst>
              <a:ext uri="{FF2B5EF4-FFF2-40B4-BE49-F238E27FC236}">
                <a16:creationId xmlns:a16="http://schemas.microsoft.com/office/drawing/2014/main" id="{FDED5058-5186-51CE-0130-9E736A962C98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79" name="CustomShape 2">
            <a:extLst>
              <a:ext uri="{FF2B5EF4-FFF2-40B4-BE49-F238E27FC236}">
                <a16:creationId xmlns:a16="http://schemas.microsoft.com/office/drawing/2014/main" id="{2E9590F1-0A2A-2EE8-A40A-73B54E9A32C7}"/>
              </a:ext>
            </a:extLst>
          </p:cNvPr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0" name="CustomShape 3">
            <a:extLst>
              <a:ext uri="{FF2B5EF4-FFF2-40B4-BE49-F238E27FC236}">
                <a16:creationId xmlns:a16="http://schemas.microsoft.com/office/drawing/2014/main" id="{DEED51B0-B5A7-A88B-DC43-DD9713B29815}"/>
              </a:ext>
            </a:extLst>
          </p:cNvPr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4">
            <a:extLst>
              <a:ext uri="{FF2B5EF4-FFF2-40B4-BE49-F238E27FC236}">
                <a16:creationId xmlns:a16="http://schemas.microsoft.com/office/drawing/2014/main" id="{AFA7BD03-978C-EBEC-13C7-5ECA4E9F74D9}"/>
              </a:ext>
            </a:extLst>
          </p:cNvPr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系統介面：左側操作、右側洞察、下方資料分頁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5">
            <a:extLst>
              <a:ext uri="{FF2B5EF4-FFF2-40B4-BE49-F238E27FC236}">
                <a16:creationId xmlns:a16="http://schemas.microsoft.com/office/drawing/2014/main" id="{9D4D581B-0C62-46C3-BABD-F1F4DBF97361}"/>
              </a:ext>
            </a:extLst>
          </p:cNvPr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7" name="CustomShape 20">
            <a:extLst>
              <a:ext uri="{FF2B5EF4-FFF2-40B4-BE49-F238E27FC236}">
                <a16:creationId xmlns:a16="http://schemas.microsoft.com/office/drawing/2014/main" id="{0F921552-19EE-55E9-299A-94416ABCB9AA}"/>
              </a:ext>
            </a:extLst>
          </p:cNvPr>
          <p:cNvSpPr/>
          <p:nvPr/>
        </p:nvSpPr>
        <p:spPr>
          <a:xfrm>
            <a:off x="1209780" y="1104480"/>
            <a:ext cx="3428640" cy="4762080"/>
          </a:xfrm>
          <a:prstGeom prst="roundRect">
            <a:avLst>
              <a:gd name="adj" fmla="val 2222"/>
            </a:avLst>
          </a:prstGeom>
          <a:solidFill>
            <a:srgbClr val="ECFEFF"/>
          </a:solidFill>
          <a:ln w="1224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8" name="CustomShape 21">
            <a:extLst>
              <a:ext uri="{FF2B5EF4-FFF2-40B4-BE49-F238E27FC236}">
                <a16:creationId xmlns:a16="http://schemas.microsoft.com/office/drawing/2014/main" id="{00D1E5EA-0181-91A5-8DD5-DA946078E049}"/>
              </a:ext>
            </a:extLst>
          </p:cNvPr>
          <p:cNvSpPr/>
          <p:nvPr/>
        </p:nvSpPr>
        <p:spPr>
          <a:xfrm>
            <a:off x="1514340" y="1390320"/>
            <a:ext cx="1142640" cy="28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結果區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9" name="CustomShape 22">
            <a:extLst>
              <a:ext uri="{FF2B5EF4-FFF2-40B4-BE49-F238E27FC236}">
                <a16:creationId xmlns:a16="http://schemas.microsoft.com/office/drawing/2014/main" id="{25FD894E-DB59-DB32-EE17-B4039EBB5F1D}"/>
              </a:ext>
            </a:extLst>
          </p:cNvPr>
          <p:cNvSpPr/>
          <p:nvPr/>
        </p:nvSpPr>
        <p:spPr>
          <a:xfrm>
            <a:off x="1609740" y="2057040"/>
            <a:ext cx="2571480" cy="552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0" name="CustomShape 23">
            <a:extLst>
              <a:ext uri="{FF2B5EF4-FFF2-40B4-BE49-F238E27FC236}">
                <a16:creationId xmlns:a16="http://schemas.microsoft.com/office/drawing/2014/main" id="{CA23BFCF-CA4C-4BDD-A6FD-347A50725371}"/>
              </a:ext>
            </a:extLst>
          </p:cNvPr>
          <p:cNvSpPr/>
          <p:nvPr/>
        </p:nvSpPr>
        <p:spPr>
          <a:xfrm>
            <a:off x="1800180" y="2247480"/>
            <a:ext cx="219024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3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洞察文字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1" name="CustomShape 24">
            <a:extLst>
              <a:ext uri="{FF2B5EF4-FFF2-40B4-BE49-F238E27FC236}">
                <a16:creationId xmlns:a16="http://schemas.microsoft.com/office/drawing/2014/main" id="{C5928BE3-0529-5BFF-CD60-3FB515185467}"/>
              </a:ext>
            </a:extLst>
          </p:cNvPr>
          <p:cNvSpPr/>
          <p:nvPr/>
        </p:nvSpPr>
        <p:spPr>
          <a:xfrm>
            <a:off x="1609740" y="2914200"/>
            <a:ext cx="2571480" cy="552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2" name="CustomShape 25">
            <a:extLst>
              <a:ext uri="{FF2B5EF4-FFF2-40B4-BE49-F238E27FC236}">
                <a16:creationId xmlns:a16="http://schemas.microsoft.com/office/drawing/2014/main" id="{FBAE74E1-E019-4095-6E2D-24EF8D822AF1}"/>
              </a:ext>
            </a:extLst>
          </p:cNvPr>
          <p:cNvSpPr/>
          <p:nvPr/>
        </p:nvSpPr>
        <p:spPr>
          <a:xfrm>
            <a:off x="1800180" y="3104640"/>
            <a:ext cx="219024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3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KPI Summary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3" name="CustomShape 26">
            <a:extLst>
              <a:ext uri="{FF2B5EF4-FFF2-40B4-BE49-F238E27FC236}">
                <a16:creationId xmlns:a16="http://schemas.microsoft.com/office/drawing/2014/main" id="{3AD6325B-0831-9B45-8654-6BE3C2085F45}"/>
              </a:ext>
            </a:extLst>
          </p:cNvPr>
          <p:cNvSpPr/>
          <p:nvPr/>
        </p:nvSpPr>
        <p:spPr>
          <a:xfrm>
            <a:off x="1609740" y="3771360"/>
            <a:ext cx="2571480" cy="552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4" name="CustomShape 27">
            <a:extLst>
              <a:ext uri="{FF2B5EF4-FFF2-40B4-BE49-F238E27FC236}">
                <a16:creationId xmlns:a16="http://schemas.microsoft.com/office/drawing/2014/main" id="{8105F31F-70BA-FFF7-36E4-83A935311E5F}"/>
              </a:ext>
            </a:extLst>
          </p:cNvPr>
          <p:cNvSpPr/>
          <p:nvPr/>
        </p:nvSpPr>
        <p:spPr>
          <a:xfrm>
            <a:off x="1800180" y="3962160"/>
            <a:ext cx="219024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3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Matplotlib 圖表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7" name="CustomShape 40">
            <a:extLst>
              <a:ext uri="{FF2B5EF4-FFF2-40B4-BE49-F238E27FC236}">
                <a16:creationId xmlns:a16="http://schemas.microsoft.com/office/drawing/2014/main" id="{D4317D87-6106-5B56-C277-614262820C95}"/>
              </a:ext>
            </a:extLst>
          </p:cNvPr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07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CustomShape 6">
            <a:extLst>
              <a:ext uri="{FF2B5EF4-FFF2-40B4-BE49-F238E27FC236}">
                <a16:creationId xmlns:a16="http://schemas.microsoft.com/office/drawing/2014/main" id="{44BD3EFA-E312-9347-B644-CEC35D1EB934}"/>
              </a:ext>
            </a:extLst>
          </p:cNvPr>
          <p:cNvSpPr/>
          <p:nvPr/>
        </p:nvSpPr>
        <p:spPr>
          <a:xfrm>
            <a:off x="5427490" y="1104480"/>
            <a:ext cx="5975200" cy="4762080"/>
          </a:xfrm>
          <a:prstGeom prst="roundRect">
            <a:avLst>
              <a:gd name="adj" fmla="val 2581"/>
            </a:avLst>
          </a:prstGeom>
          <a:solidFill>
            <a:srgbClr val="EEF6FF"/>
          </a:solidFill>
          <a:ln w="1224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5E71B65-26FE-09ED-B2A6-04DD08F74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8" t="3557" r="4224" b="7279"/>
          <a:stretch>
            <a:fillRect/>
          </a:stretch>
        </p:blipFill>
        <p:spPr>
          <a:xfrm>
            <a:off x="6027520" y="1298320"/>
            <a:ext cx="4775140" cy="426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7302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B8D0F-486F-B936-EAE0-3B4DC0B9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>
            <a:extLst>
              <a:ext uri="{FF2B5EF4-FFF2-40B4-BE49-F238E27FC236}">
                <a16:creationId xmlns:a16="http://schemas.microsoft.com/office/drawing/2014/main" id="{76C8265B-BAA3-4AEA-45DC-BE39D20FC057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79" name="CustomShape 2">
            <a:extLst>
              <a:ext uri="{FF2B5EF4-FFF2-40B4-BE49-F238E27FC236}">
                <a16:creationId xmlns:a16="http://schemas.microsoft.com/office/drawing/2014/main" id="{D8433256-0446-EB22-9C92-F4F13F394C04}"/>
              </a:ext>
            </a:extLst>
          </p:cNvPr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0" name="CustomShape 3">
            <a:extLst>
              <a:ext uri="{FF2B5EF4-FFF2-40B4-BE49-F238E27FC236}">
                <a16:creationId xmlns:a16="http://schemas.microsoft.com/office/drawing/2014/main" id="{C7D1C80B-2BE8-CB2F-6598-F592349BBC21}"/>
              </a:ext>
            </a:extLst>
          </p:cNvPr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4">
            <a:extLst>
              <a:ext uri="{FF2B5EF4-FFF2-40B4-BE49-F238E27FC236}">
                <a16:creationId xmlns:a16="http://schemas.microsoft.com/office/drawing/2014/main" id="{706F4059-9235-3798-374B-4ECD9B172306}"/>
              </a:ext>
            </a:extLst>
          </p:cNvPr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系統介面：左側操作、右側洞察、下方資料分頁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5">
            <a:extLst>
              <a:ext uri="{FF2B5EF4-FFF2-40B4-BE49-F238E27FC236}">
                <a16:creationId xmlns:a16="http://schemas.microsoft.com/office/drawing/2014/main" id="{22880E4E-B167-BEC7-DEC2-475F1120B80B}"/>
              </a:ext>
            </a:extLst>
          </p:cNvPr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4" name="CustomShape 7">
            <a:extLst>
              <a:ext uri="{FF2B5EF4-FFF2-40B4-BE49-F238E27FC236}">
                <a16:creationId xmlns:a16="http://schemas.microsoft.com/office/drawing/2014/main" id="{D336CA48-07BA-B41A-83D9-211E8AF5775F}"/>
              </a:ext>
            </a:extLst>
          </p:cNvPr>
          <p:cNvSpPr/>
          <p:nvPr/>
        </p:nvSpPr>
        <p:spPr>
          <a:xfrm>
            <a:off x="1028880" y="1409760"/>
            <a:ext cx="1142640" cy="28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操作區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5" name="CustomShape 8">
            <a:extLst>
              <a:ext uri="{FF2B5EF4-FFF2-40B4-BE49-F238E27FC236}">
                <a16:creationId xmlns:a16="http://schemas.microsoft.com/office/drawing/2014/main" id="{4514371A-B2BA-DAD6-BA40-9E35A264DD59}"/>
              </a:ext>
            </a:extLst>
          </p:cNvPr>
          <p:cNvSpPr/>
          <p:nvPr/>
        </p:nvSpPr>
        <p:spPr>
          <a:xfrm>
            <a:off x="1066680" y="192420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6" name="CustomShape 9">
            <a:extLst>
              <a:ext uri="{FF2B5EF4-FFF2-40B4-BE49-F238E27FC236}">
                <a16:creationId xmlns:a16="http://schemas.microsoft.com/office/drawing/2014/main" id="{E017A8E3-C8EB-BD49-7F49-3BF602A827A4}"/>
              </a:ext>
            </a:extLst>
          </p:cNvPr>
          <p:cNvSpPr/>
          <p:nvPr/>
        </p:nvSpPr>
        <p:spPr>
          <a:xfrm>
            <a:off x="1181160" y="200016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CSV 上傳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7" name="CustomShape 10">
            <a:extLst>
              <a:ext uri="{FF2B5EF4-FFF2-40B4-BE49-F238E27FC236}">
                <a16:creationId xmlns:a16="http://schemas.microsoft.com/office/drawing/2014/main" id="{BC12024E-9D10-CFDB-582C-5D288E8CE098}"/>
              </a:ext>
            </a:extLst>
          </p:cNvPr>
          <p:cNvSpPr/>
          <p:nvPr/>
        </p:nvSpPr>
        <p:spPr>
          <a:xfrm>
            <a:off x="1066680" y="240048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8" name="CustomShape 11">
            <a:extLst>
              <a:ext uri="{FF2B5EF4-FFF2-40B4-BE49-F238E27FC236}">
                <a16:creationId xmlns:a16="http://schemas.microsoft.com/office/drawing/2014/main" id="{28D7716E-9498-11D6-55A7-6014F10D1AF8}"/>
              </a:ext>
            </a:extLst>
          </p:cNvPr>
          <p:cNvSpPr/>
          <p:nvPr/>
        </p:nvSpPr>
        <p:spPr>
          <a:xfrm>
            <a:off x="1181160" y="247644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港口 / 航線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9" name="CustomShape 12">
            <a:extLst>
              <a:ext uri="{FF2B5EF4-FFF2-40B4-BE49-F238E27FC236}">
                <a16:creationId xmlns:a16="http://schemas.microsoft.com/office/drawing/2014/main" id="{489D5A24-60A3-CB6C-77B6-AB9BC8D9F03E}"/>
              </a:ext>
            </a:extLst>
          </p:cNvPr>
          <p:cNvSpPr/>
          <p:nvPr/>
        </p:nvSpPr>
        <p:spPr>
          <a:xfrm>
            <a:off x="1066680" y="287640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0" name="CustomShape 13">
            <a:extLst>
              <a:ext uri="{FF2B5EF4-FFF2-40B4-BE49-F238E27FC236}">
                <a16:creationId xmlns:a16="http://schemas.microsoft.com/office/drawing/2014/main" id="{63EFCAA9-B73B-869F-1816-13B46E5C8E64}"/>
              </a:ext>
            </a:extLst>
          </p:cNvPr>
          <p:cNvSpPr/>
          <p:nvPr/>
        </p:nvSpPr>
        <p:spPr>
          <a:xfrm>
            <a:off x="1181160" y="295272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船舶類型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1" name="CustomShape 14">
            <a:extLst>
              <a:ext uri="{FF2B5EF4-FFF2-40B4-BE49-F238E27FC236}">
                <a16:creationId xmlns:a16="http://schemas.microsoft.com/office/drawing/2014/main" id="{4478D93A-D69B-F1F5-8101-098BA7722CC5}"/>
              </a:ext>
            </a:extLst>
          </p:cNvPr>
          <p:cNvSpPr/>
          <p:nvPr/>
        </p:nvSpPr>
        <p:spPr>
          <a:xfrm>
            <a:off x="1066680" y="335268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2" name="CustomShape 15">
            <a:extLst>
              <a:ext uri="{FF2B5EF4-FFF2-40B4-BE49-F238E27FC236}">
                <a16:creationId xmlns:a16="http://schemas.microsoft.com/office/drawing/2014/main" id="{D5B73BF8-4108-1635-C7CB-A02E8B22C4D3}"/>
              </a:ext>
            </a:extLst>
          </p:cNvPr>
          <p:cNvSpPr/>
          <p:nvPr/>
        </p:nvSpPr>
        <p:spPr>
          <a:xfrm>
            <a:off x="1181160" y="342900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最低 TEU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3" name="CustomShape 16">
            <a:extLst>
              <a:ext uri="{FF2B5EF4-FFF2-40B4-BE49-F238E27FC236}">
                <a16:creationId xmlns:a16="http://schemas.microsoft.com/office/drawing/2014/main" id="{40EA8140-70E8-B532-3BC1-F78477C45274}"/>
              </a:ext>
            </a:extLst>
          </p:cNvPr>
          <p:cNvSpPr/>
          <p:nvPr/>
        </p:nvSpPr>
        <p:spPr>
          <a:xfrm>
            <a:off x="1066680" y="382896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4" name="CustomShape 17">
            <a:extLst>
              <a:ext uri="{FF2B5EF4-FFF2-40B4-BE49-F238E27FC236}">
                <a16:creationId xmlns:a16="http://schemas.microsoft.com/office/drawing/2014/main" id="{3577C3D6-55CB-7B13-9FA3-034F5A19C0FA}"/>
              </a:ext>
            </a:extLst>
          </p:cNvPr>
          <p:cNvSpPr/>
          <p:nvPr/>
        </p:nvSpPr>
        <p:spPr>
          <a:xfrm>
            <a:off x="1181160" y="390528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分析指標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5" name="CustomShape 18">
            <a:extLst>
              <a:ext uri="{FF2B5EF4-FFF2-40B4-BE49-F238E27FC236}">
                <a16:creationId xmlns:a16="http://schemas.microsoft.com/office/drawing/2014/main" id="{D9555ED6-EE13-F172-65AF-B780F106D350}"/>
              </a:ext>
            </a:extLst>
          </p:cNvPr>
          <p:cNvSpPr/>
          <p:nvPr/>
        </p:nvSpPr>
        <p:spPr>
          <a:xfrm>
            <a:off x="1066680" y="4305240"/>
            <a:ext cx="180936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6" name="CustomShape 19">
            <a:extLst>
              <a:ext uri="{FF2B5EF4-FFF2-40B4-BE49-F238E27FC236}">
                <a16:creationId xmlns:a16="http://schemas.microsoft.com/office/drawing/2014/main" id="{7AC61EB2-1677-4201-0696-291FBCEB3177}"/>
              </a:ext>
            </a:extLst>
          </p:cNvPr>
          <p:cNvSpPr/>
          <p:nvPr/>
        </p:nvSpPr>
        <p:spPr>
          <a:xfrm>
            <a:off x="1181160" y="4381560"/>
            <a:ext cx="158076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圖表類型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7" name="CustomShape 20">
            <a:extLst>
              <a:ext uri="{FF2B5EF4-FFF2-40B4-BE49-F238E27FC236}">
                <a16:creationId xmlns:a16="http://schemas.microsoft.com/office/drawing/2014/main" id="{D606C33A-8B9B-984A-1CAB-3E7EA1D3832F}"/>
              </a:ext>
            </a:extLst>
          </p:cNvPr>
          <p:cNvSpPr/>
          <p:nvPr/>
        </p:nvSpPr>
        <p:spPr>
          <a:xfrm>
            <a:off x="355600" y="1123920"/>
            <a:ext cx="7645760" cy="4762080"/>
          </a:xfrm>
          <a:prstGeom prst="roundRect">
            <a:avLst>
              <a:gd name="adj" fmla="val 2222"/>
            </a:avLst>
          </a:prstGeom>
          <a:solidFill>
            <a:srgbClr val="ECFEFF"/>
          </a:solidFill>
          <a:ln w="1224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98" name="CustomShape 21">
            <a:extLst>
              <a:ext uri="{FF2B5EF4-FFF2-40B4-BE49-F238E27FC236}">
                <a16:creationId xmlns:a16="http://schemas.microsoft.com/office/drawing/2014/main" id="{A7FF97B6-4AC6-E4EE-BED2-FEADF6C5264D}"/>
              </a:ext>
            </a:extLst>
          </p:cNvPr>
          <p:cNvSpPr/>
          <p:nvPr/>
        </p:nvSpPr>
        <p:spPr>
          <a:xfrm>
            <a:off x="4495680" y="1409760"/>
            <a:ext cx="1142640" cy="28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結果區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9" name="CustomShape 22">
            <a:extLst>
              <a:ext uri="{FF2B5EF4-FFF2-40B4-BE49-F238E27FC236}">
                <a16:creationId xmlns:a16="http://schemas.microsoft.com/office/drawing/2014/main" id="{60FD869E-FCD4-45AE-7309-53D1A4D1B3E2}"/>
              </a:ext>
            </a:extLst>
          </p:cNvPr>
          <p:cNvSpPr/>
          <p:nvPr/>
        </p:nvSpPr>
        <p:spPr>
          <a:xfrm>
            <a:off x="4591080" y="2076480"/>
            <a:ext cx="2571480" cy="552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0" name="CustomShape 23">
            <a:extLst>
              <a:ext uri="{FF2B5EF4-FFF2-40B4-BE49-F238E27FC236}">
                <a16:creationId xmlns:a16="http://schemas.microsoft.com/office/drawing/2014/main" id="{49955529-1A28-3B73-FC48-7D3F20A5D3EA}"/>
              </a:ext>
            </a:extLst>
          </p:cNvPr>
          <p:cNvSpPr/>
          <p:nvPr/>
        </p:nvSpPr>
        <p:spPr>
          <a:xfrm>
            <a:off x="4781520" y="2266920"/>
            <a:ext cx="219024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3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洞察文字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1" name="CustomShape 24">
            <a:extLst>
              <a:ext uri="{FF2B5EF4-FFF2-40B4-BE49-F238E27FC236}">
                <a16:creationId xmlns:a16="http://schemas.microsoft.com/office/drawing/2014/main" id="{8AB903FA-7E6A-2D2C-4980-3ABB99E03BDA}"/>
              </a:ext>
            </a:extLst>
          </p:cNvPr>
          <p:cNvSpPr/>
          <p:nvPr/>
        </p:nvSpPr>
        <p:spPr>
          <a:xfrm>
            <a:off x="4591080" y="2933640"/>
            <a:ext cx="2571480" cy="552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2" name="CustomShape 25">
            <a:extLst>
              <a:ext uri="{FF2B5EF4-FFF2-40B4-BE49-F238E27FC236}">
                <a16:creationId xmlns:a16="http://schemas.microsoft.com/office/drawing/2014/main" id="{07656906-C92B-B386-2AD3-69A0E27370E8}"/>
              </a:ext>
            </a:extLst>
          </p:cNvPr>
          <p:cNvSpPr/>
          <p:nvPr/>
        </p:nvSpPr>
        <p:spPr>
          <a:xfrm>
            <a:off x="4781520" y="3124080"/>
            <a:ext cx="219024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3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KPI Summary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3" name="CustomShape 26">
            <a:extLst>
              <a:ext uri="{FF2B5EF4-FFF2-40B4-BE49-F238E27FC236}">
                <a16:creationId xmlns:a16="http://schemas.microsoft.com/office/drawing/2014/main" id="{149A3A12-E04B-0B3E-CB37-325D05523B57}"/>
              </a:ext>
            </a:extLst>
          </p:cNvPr>
          <p:cNvSpPr/>
          <p:nvPr/>
        </p:nvSpPr>
        <p:spPr>
          <a:xfrm>
            <a:off x="4591080" y="3790800"/>
            <a:ext cx="2571480" cy="552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4" name="CustomShape 27">
            <a:extLst>
              <a:ext uri="{FF2B5EF4-FFF2-40B4-BE49-F238E27FC236}">
                <a16:creationId xmlns:a16="http://schemas.microsoft.com/office/drawing/2014/main" id="{148133FF-8A59-7127-49BB-F325828ED40B}"/>
              </a:ext>
            </a:extLst>
          </p:cNvPr>
          <p:cNvSpPr/>
          <p:nvPr/>
        </p:nvSpPr>
        <p:spPr>
          <a:xfrm>
            <a:off x="4781520" y="3981600"/>
            <a:ext cx="2190240" cy="19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3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Matplotlib 圖表</a:t>
            </a:r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5" name="CustomShape 28">
            <a:extLst>
              <a:ext uri="{FF2B5EF4-FFF2-40B4-BE49-F238E27FC236}">
                <a16:creationId xmlns:a16="http://schemas.microsoft.com/office/drawing/2014/main" id="{BAD4595E-611A-8AEF-62A4-00E6C444E73D}"/>
              </a:ext>
            </a:extLst>
          </p:cNvPr>
          <p:cNvSpPr/>
          <p:nvPr/>
        </p:nvSpPr>
        <p:spPr>
          <a:xfrm>
            <a:off x="8115480" y="1123920"/>
            <a:ext cx="3333240" cy="4762080"/>
          </a:xfrm>
          <a:prstGeom prst="roundRect">
            <a:avLst>
              <a:gd name="adj" fmla="val 2286"/>
            </a:avLst>
          </a:prstGeom>
          <a:solidFill>
            <a:srgbClr val="F0FDF4"/>
          </a:solidFill>
          <a:ln w="1224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6" name="CustomShape 29">
            <a:extLst>
              <a:ext uri="{FF2B5EF4-FFF2-40B4-BE49-F238E27FC236}">
                <a16:creationId xmlns:a16="http://schemas.microsoft.com/office/drawing/2014/main" id="{1880CB0C-1BB0-F844-C1EA-1EB78B8906D9}"/>
              </a:ext>
            </a:extLst>
          </p:cNvPr>
          <p:cNvSpPr/>
          <p:nvPr/>
        </p:nvSpPr>
        <p:spPr>
          <a:xfrm>
            <a:off x="8420040" y="1409760"/>
            <a:ext cx="1428480" cy="28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F766E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資料分頁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7" name="CustomShape 30">
            <a:extLst>
              <a:ext uri="{FF2B5EF4-FFF2-40B4-BE49-F238E27FC236}">
                <a16:creationId xmlns:a16="http://schemas.microsoft.com/office/drawing/2014/main" id="{AC3A24FF-2C4D-CB41-2D1D-60A1D27B064E}"/>
              </a:ext>
            </a:extLst>
          </p:cNvPr>
          <p:cNvSpPr/>
          <p:nvPr/>
        </p:nvSpPr>
        <p:spPr>
          <a:xfrm>
            <a:off x="8524800" y="2019240"/>
            <a:ext cx="209520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08" name="CustomShape 31">
            <a:extLst>
              <a:ext uri="{FF2B5EF4-FFF2-40B4-BE49-F238E27FC236}">
                <a16:creationId xmlns:a16="http://schemas.microsoft.com/office/drawing/2014/main" id="{ABECBC7E-6691-1363-56F2-DBA0B7A960DE}"/>
              </a:ext>
            </a:extLst>
          </p:cNvPr>
          <p:cNvSpPr/>
          <p:nvPr/>
        </p:nvSpPr>
        <p:spPr>
          <a:xfrm>
            <a:off x="8639280" y="2095560"/>
            <a:ext cx="186660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0F766E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Raw Data View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9" name="CustomShape 32">
            <a:extLst>
              <a:ext uri="{FF2B5EF4-FFF2-40B4-BE49-F238E27FC236}">
                <a16:creationId xmlns:a16="http://schemas.microsoft.com/office/drawing/2014/main" id="{A9925260-3BD3-CA24-04D4-4E188C7F5D64}"/>
              </a:ext>
            </a:extLst>
          </p:cNvPr>
          <p:cNvSpPr/>
          <p:nvPr/>
        </p:nvSpPr>
        <p:spPr>
          <a:xfrm>
            <a:off x="8524800" y="2562120"/>
            <a:ext cx="209520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10" name="CustomShape 33">
            <a:extLst>
              <a:ext uri="{FF2B5EF4-FFF2-40B4-BE49-F238E27FC236}">
                <a16:creationId xmlns:a16="http://schemas.microsoft.com/office/drawing/2014/main" id="{6CF033D9-BF36-189D-40AE-E78D0386611F}"/>
              </a:ext>
            </a:extLst>
          </p:cNvPr>
          <p:cNvSpPr/>
          <p:nvPr/>
        </p:nvSpPr>
        <p:spPr>
          <a:xfrm>
            <a:off x="8639280" y="2638440"/>
            <a:ext cx="186660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0F766E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Cleaned Data View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34">
            <a:extLst>
              <a:ext uri="{FF2B5EF4-FFF2-40B4-BE49-F238E27FC236}">
                <a16:creationId xmlns:a16="http://schemas.microsoft.com/office/drawing/2014/main" id="{1566BFF6-DD58-FA24-010C-49E9FAD6A97A}"/>
              </a:ext>
            </a:extLst>
          </p:cNvPr>
          <p:cNvSpPr/>
          <p:nvPr/>
        </p:nvSpPr>
        <p:spPr>
          <a:xfrm>
            <a:off x="8524800" y="3105000"/>
            <a:ext cx="209520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12" name="CustomShape 35">
            <a:extLst>
              <a:ext uri="{FF2B5EF4-FFF2-40B4-BE49-F238E27FC236}">
                <a16:creationId xmlns:a16="http://schemas.microsoft.com/office/drawing/2014/main" id="{41E1BA3B-DED8-2ADE-D0F6-68A822036412}"/>
              </a:ext>
            </a:extLst>
          </p:cNvPr>
          <p:cNvSpPr/>
          <p:nvPr/>
        </p:nvSpPr>
        <p:spPr>
          <a:xfrm>
            <a:off x="8639280" y="3181320"/>
            <a:ext cx="186660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0F766E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Port Performance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3" name="CustomShape 36">
            <a:extLst>
              <a:ext uri="{FF2B5EF4-FFF2-40B4-BE49-F238E27FC236}">
                <a16:creationId xmlns:a16="http://schemas.microsoft.com/office/drawing/2014/main" id="{2EA57155-5508-0B21-29F1-5CE423773911}"/>
              </a:ext>
            </a:extLst>
          </p:cNvPr>
          <p:cNvSpPr/>
          <p:nvPr/>
        </p:nvSpPr>
        <p:spPr>
          <a:xfrm>
            <a:off x="8524800" y="3648240"/>
            <a:ext cx="209520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14" name="CustomShape 37">
            <a:extLst>
              <a:ext uri="{FF2B5EF4-FFF2-40B4-BE49-F238E27FC236}">
                <a16:creationId xmlns:a16="http://schemas.microsoft.com/office/drawing/2014/main" id="{A094BBD8-B5C9-9C45-4550-A7B91CB06FBF}"/>
              </a:ext>
            </a:extLst>
          </p:cNvPr>
          <p:cNvSpPr/>
          <p:nvPr/>
        </p:nvSpPr>
        <p:spPr>
          <a:xfrm>
            <a:off x="8639280" y="3724200"/>
            <a:ext cx="186660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0F766E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Route Performance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5" name="CustomShape 38">
            <a:extLst>
              <a:ext uri="{FF2B5EF4-FFF2-40B4-BE49-F238E27FC236}">
                <a16:creationId xmlns:a16="http://schemas.microsoft.com/office/drawing/2014/main" id="{E2EDE06C-C03F-D6B0-CF96-CF2988AE6953}"/>
              </a:ext>
            </a:extLst>
          </p:cNvPr>
          <p:cNvSpPr/>
          <p:nvPr/>
        </p:nvSpPr>
        <p:spPr>
          <a:xfrm>
            <a:off x="8524800" y="4191120"/>
            <a:ext cx="2095200" cy="3236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16" name="CustomShape 39">
            <a:extLst>
              <a:ext uri="{FF2B5EF4-FFF2-40B4-BE49-F238E27FC236}">
                <a16:creationId xmlns:a16="http://schemas.microsoft.com/office/drawing/2014/main" id="{456D5A1A-16C7-C3AD-4337-6D3F386076D0}"/>
              </a:ext>
            </a:extLst>
          </p:cNvPr>
          <p:cNvSpPr/>
          <p:nvPr/>
        </p:nvSpPr>
        <p:spPr>
          <a:xfrm>
            <a:off x="8639280" y="4267080"/>
            <a:ext cx="1866600" cy="17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0F766E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Filtered Records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7" name="CustomShape 40">
            <a:extLst>
              <a:ext uri="{FF2B5EF4-FFF2-40B4-BE49-F238E27FC236}">
                <a16:creationId xmlns:a16="http://schemas.microsoft.com/office/drawing/2014/main" id="{542C7B20-D9A7-7FE6-7A2C-60153D28518E}"/>
              </a:ext>
            </a:extLst>
          </p:cNvPr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07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4BCF033-1A4B-D333-1355-CACE9B2E1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80" y="1123920"/>
            <a:ext cx="7772400" cy="477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621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19" name="CustomShape 2"/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20" name="CustomShape 3"/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1" name="CustomShape 4"/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分析結果：港口吞吐與延誤訊號能被快速定位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2" name="CustomShape 5"/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23" name="圖片 222"/>
          <p:cNvPicPr/>
          <p:nvPr/>
        </p:nvPicPr>
        <p:blipFill>
          <a:blip r:embed="rId3"/>
          <a:stretch/>
        </p:blipFill>
        <p:spPr>
          <a:xfrm>
            <a:off x="685800" y="1342800"/>
            <a:ext cx="5810040" cy="2943360"/>
          </a:xfrm>
          <a:prstGeom prst="rect">
            <a:avLst/>
          </a:prstGeom>
          <a:ln>
            <a:noFill/>
          </a:ln>
        </p:spPr>
      </p:pic>
      <p:sp>
        <p:nvSpPr>
          <p:cNvPr id="224" name="CustomShape 6"/>
          <p:cNvSpPr/>
          <p:nvPr/>
        </p:nvSpPr>
        <p:spPr>
          <a:xfrm>
            <a:off x="7000920" y="1380960"/>
            <a:ext cx="1999800" cy="95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25" name="CustomShape 7"/>
          <p:cNvSpPr/>
          <p:nvPr/>
        </p:nvSpPr>
        <p:spPr>
          <a:xfrm>
            <a:off x="7172280" y="1533600"/>
            <a:ext cx="1657080" cy="361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250" b="1" strike="noStrike" spc="-1">
                <a:solidFill>
                  <a:srgbClr val="2563E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412,900</a:t>
            </a:r>
            <a:endParaRPr lang="en-US" sz="22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6" name="CustomShape 8"/>
          <p:cNvSpPr/>
          <p:nvPr/>
        </p:nvSpPr>
        <p:spPr>
          <a:xfrm>
            <a:off x="7172280" y="1952640"/>
            <a:ext cx="1657080" cy="24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總吞吐量 TEU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7" name="CustomShape 9"/>
          <p:cNvSpPr/>
          <p:nvPr/>
        </p:nvSpPr>
        <p:spPr>
          <a:xfrm>
            <a:off x="9239400" y="1380960"/>
            <a:ext cx="1809360" cy="95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28" name="CustomShape 10"/>
          <p:cNvSpPr/>
          <p:nvPr/>
        </p:nvSpPr>
        <p:spPr>
          <a:xfrm>
            <a:off x="9410760" y="1533600"/>
            <a:ext cx="1466640" cy="361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225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60 筆</a:t>
            </a:r>
            <a:endParaRPr lang="en-US" sz="22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9" name="CustomShape 11"/>
          <p:cNvSpPr/>
          <p:nvPr/>
        </p:nvSpPr>
        <p:spPr>
          <a:xfrm>
            <a:off x="9410760" y="1952640"/>
            <a:ext cx="1466640" cy="24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02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分析紀錄</a:t>
            </a:r>
            <a:endParaRPr lang="en-US" sz="102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0" name="CustomShape 12"/>
          <p:cNvSpPr/>
          <p:nvPr/>
        </p:nvSpPr>
        <p:spPr>
          <a:xfrm>
            <a:off x="7000920" y="2628000"/>
            <a:ext cx="4303080" cy="183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31" name="CustomShape 13"/>
          <p:cNvSpPr/>
          <p:nvPr/>
        </p:nvSpPr>
        <p:spPr>
          <a:xfrm>
            <a:off x="7221200" y="2710600"/>
            <a:ext cx="171432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 dirty="0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主要洞察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2" name="CustomShape 14"/>
          <p:cNvSpPr/>
          <p:nvPr/>
        </p:nvSpPr>
        <p:spPr>
          <a:xfrm>
            <a:off x="7286760" y="3168000"/>
            <a:ext cx="3876480" cy="129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Shanghai 在範例資料中累計 TEU 最高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Los Angeles 平均滯港時間相對較高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延誤狀態可透過 delay_rate 快速比較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圖表隨篩選條件即時更新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</p:txBody>
      </p:sp>
      <p:sp>
        <p:nvSpPr>
          <p:cNvPr id="233" name="CustomShape 15"/>
          <p:cNvSpPr/>
          <p:nvPr/>
        </p:nvSpPr>
        <p:spPr>
          <a:xfrm>
            <a:off x="1066680" y="5191200"/>
            <a:ext cx="971532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65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成果不是只產生圖，而是把圖和清洗後資料、KPI、港口/航線績效表串在同一個操作流程。</a:t>
            </a:r>
            <a:endParaRPr lang="en-US" sz="1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4" name="CustomShape 16"/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08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36" name="CustomShape 2"/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37" name="CustomShape 3"/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8" name="CustomShape 4"/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完成項目與分工：功能、部署、測試都已收束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9" name="CustomShape 5"/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0" name="CustomShape 6"/>
          <p:cNvSpPr/>
          <p:nvPr/>
        </p:nvSpPr>
        <p:spPr>
          <a:xfrm>
            <a:off x="504000" y="1238400"/>
            <a:ext cx="6408000" cy="3513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41" name="CustomShape 7"/>
          <p:cNvSpPr/>
          <p:nvPr/>
        </p:nvSpPr>
        <p:spPr>
          <a:xfrm>
            <a:off x="720000" y="1404000"/>
            <a:ext cx="2160000" cy="28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功能完成度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2" name="CustomShape 8"/>
          <p:cNvSpPr/>
          <p:nvPr/>
        </p:nvSpPr>
        <p:spPr>
          <a:xfrm>
            <a:off x="792000" y="1944000"/>
            <a:ext cx="2238120" cy="304560"/>
          </a:xfrm>
          <a:prstGeom prst="rect">
            <a:avLst/>
          </a:prstGeom>
          <a:solidFill>
            <a:srgbClr val="E8F1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43" name="CustomShape 9"/>
          <p:cNvSpPr/>
          <p:nvPr/>
        </p:nvSpPr>
        <p:spPr>
          <a:xfrm>
            <a:off x="906120" y="2019960"/>
            <a:ext cx="19998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CSV 上傳與內建資料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4" name="CustomShape 10"/>
          <p:cNvSpPr/>
          <p:nvPr/>
        </p:nvSpPr>
        <p:spPr>
          <a:xfrm>
            <a:off x="3134880" y="1944000"/>
            <a:ext cx="742680" cy="304560"/>
          </a:xfrm>
          <a:prstGeom prst="rect">
            <a:avLst/>
          </a:prstGeom>
          <a:solidFill>
            <a:srgbClr val="E8F7EE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45" name="CustomShape 11"/>
          <p:cNvSpPr/>
          <p:nvPr/>
        </p:nvSpPr>
        <p:spPr>
          <a:xfrm>
            <a:off x="3287520" y="2019960"/>
            <a:ext cx="4284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16A34A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完成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6" name="CustomShape 12"/>
          <p:cNvSpPr/>
          <p:nvPr/>
        </p:nvSpPr>
        <p:spPr>
          <a:xfrm>
            <a:off x="4039920" y="1983960"/>
            <a:ext cx="216936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支援上傳相同欄位格式資料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7" name="CustomShape 13"/>
          <p:cNvSpPr/>
          <p:nvPr/>
        </p:nvSpPr>
        <p:spPr>
          <a:xfrm>
            <a:off x="3122280" y="2460240"/>
            <a:ext cx="742680" cy="304560"/>
          </a:xfrm>
          <a:prstGeom prst="rect">
            <a:avLst/>
          </a:prstGeom>
          <a:solidFill>
            <a:srgbClr val="E8F7EE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48" name="CustomShape 14"/>
          <p:cNvSpPr/>
          <p:nvPr/>
        </p:nvSpPr>
        <p:spPr>
          <a:xfrm>
            <a:off x="782280" y="2448000"/>
            <a:ext cx="2238120" cy="304560"/>
          </a:xfrm>
          <a:prstGeom prst="rect">
            <a:avLst/>
          </a:prstGeom>
          <a:solidFill>
            <a:srgbClr val="F8FAFC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49" name="CustomShape 15"/>
          <p:cNvSpPr/>
          <p:nvPr/>
        </p:nvSpPr>
        <p:spPr>
          <a:xfrm>
            <a:off x="896400" y="2524320"/>
            <a:ext cx="19998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2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資料清洗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0" name="CustomShape 16"/>
          <p:cNvSpPr/>
          <p:nvPr/>
        </p:nvSpPr>
        <p:spPr>
          <a:xfrm>
            <a:off x="3277800" y="2524320"/>
            <a:ext cx="4284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16A34A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完成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1" name="CustomShape 17"/>
          <p:cNvSpPr/>
          <p:nvPr/>
        </p:nvSpPr>
        <p:spPr>
          <a:xfrm>
            <a:off x="4030200" y="2524320"/>
            <a:ext cx="28098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欄位檢查、補值、離群與重複處理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微軟正黑體"/>
            </a:endParaRPr>
          </a:p>
        </p:txBody>
      </p:sp>
      <p:sp>
        <p:nvSpPr>
          <p:cNvPr id="252" name="CustomShape 18"/>
          <p:cNvSpPr/>
          <p:nvPr/>
        </p:nvSpPr>
        <p:spPr>
          <a:xfrm>
            <a:off x="792000" y="2998080"/>
            <a:ext cx="2238120" cy="304560"/>
          </a:xfrm>
          <a:prstGeom prst="rect">
            <a:avLst/>
          </a:prstGeom>
          <a:solidFill>
            <a:srgbClr val="E8F1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53" name="CustomShape 19"/>
          <p:cNvSpPr/>
          <p:nvPr/>
        </p:nvSpPr>
        <p:spPr>
          <a:xfrm>
            <a:off x="906120" y="3074400"/>
            <a:ext cx="19998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2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互動篩選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4" name="CustomShape 20"/>
          <p:cNvSpPr/>
          <p:nvPr/>
        </p:nvSpPr>
        <p:spPr>
          <a:xfrm>
            <a:off x="3134880" y="2998080"/>
            <a:ext cx="742680" cy="304560"/>
          </a:xfrm>
          <a:prstGeom prst="rect">
            <a:avLst/>
          </a:prstGeom>
          <a:solidFill>
            <a:srgbClr val="E8F7EE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55" name="CustomShape 21"/>
          <p:cNvSpPr/>
          <p:nvPr/>
        </p:nvSpPr>
        <p:spPr>
          <a:xfrm>
            <a:off x="3287520" y="3074400"/>
            <a:ext cx="4284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16A34A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完成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6" name="CustomShape 22"/>
          <p:cNvSpPr/>
          <p:nvPr/>
        </p:nvSpPr>
        <p:spPr>
          <a:xfrm>
            <a:off x="4039920" y="3074400"/>
            <a:ext cx="2601360" cy="34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港口、航線、船型、TEU 門檻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微軟正黑體"/>
            </a:endParaRPr>
          </a:p>
        </p:txBody>
      </p:sp>
      <p:sp>
        <p:nvSpPr>
          <p:cNvPr id="257" name="CustomShape 23"/>
          <p:cNvSpPr/>
          <p:nvPr/>
        </p:nvSpPr>
        <p:spPr>
          <a:xfrm>
            <a:off x="792000" y="3566880"/>
            <a:ext cx="2238120" cy="304560"/>
          </a:xfrm>
          <a:prstGeom prst="rect">
            <a:avLst/>
          </a:prstGeom>
          <a:solidFill>
            <a:srgbClr val="F8FAFC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58" name="CustomShape 24"/>
          <p:cNvSpPr/>
          <p:nvPr/>
        </p:nvSpPr>
        <p:spPr>
          <a:xfrm>
            <a:off x="906120" y="3643200"/>
            <a:ext cx="19998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2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KPI 與圖表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9" name="CustomShape 25"/>
          <p:cNvSpPr/>
          <p:nvPr/>
        </p:nvSpPr>
        <p:spPr>
          <a:xfrm>
            <a:off x="3134880" y="3566880"/>
            <a:ext cx="742680" cy="304560"/>
          </a:xfrm>
          <a:prstGeom prst="rect">
            <a:avLst/>
          </a:prstGeom>
          <a:solidFill>
            <a:srgbClr val="E8F7EE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60" name="CustomShape 26"/>
          <p:cNvSpPr/>
          <p:nvPr/>
        </p:nvSpPr>
        <p:spPr>
          <a:xfrm>
            <a:off x="3287520" y="3643200"/>
            <a:ext cx="4284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16A34A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完成</a:t>
            </a:r>
            <a:endParaRPr lang="en-US" sz="939" b="1" strike="noStrike" spc="-1">
              <a:solidFill>
                <a:srgbClr val="0B2545"/>
              </a:solidFill>
              <a:uFill>
                <a:solidFill>
                  <a:srgbClr val="FFFFFF"/>
                </a:solidFill>
              </a:uFill>
              <a:latin typeface="Aptos"/>
              <a:ea typeface="Aptos"/>
            </a:endParaRPr>
          </a:p>
        </p:txBody>
      </p:sp>
      <p:sp>
        <p:nvSpPr>
          <p:cNvPr id="261" name="CustomShape 27"/>
          <p:cNvSpPr/>
          <p:nvPr/>
        </p:nvSpPr>
        <p:spPr>
          <a:xfrm>
            <a:off x="4039920" y="3643200"/>
            <a:ext cx="25758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總 TEU、滯港、船速、延誤率</a:t>
            </a:r>
            <a:endParaRPr lang="en-US" sz="1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</p:txBody>
      </p:sp>
      <p:sp>
        <p:nvSpPr>
          <p:cNvPr id="262" name="CustomShape 28"/>
          <p:cNvSpPr/>
          <p:nvPr/>
        </p:nvSpPr>
        <p:spPr>
          <a:xfrm>
            <a:off x="792000" y="4142880"/>
            <a:ext cx="2238120" cy="304560"/>
          </a:xfrm>
          <a:prstGeom prst="rect">
            <a:avLst/>
          </a:prstGeom>
          <a:solidFill>
            <a:srgbClr val="E8F1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63" name="CustomShape 29"/>
          <p:cNvSpPr/>
          <p:nvPr/>
        </p:nvSpPr>
        <p:spPr>
          <a:xfrm>
            <a:off x="906120" y="4219200"/>
            <a:ext cx="19998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2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Docker / 測試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4" name="CustomShape 30"/>
          <p:cNvSpPr/>
          <p:nvPr/>
        </p:nvSpPr>
        <p:spPr>
          <a:xfrm>
            <a:off x="3134880" y="4142880"/>
            <a:ext cx="742680" cy="304560"/>
          </a:xfrm>
          <a:prstGeom prst="rect">
            <a:avLst/>
          </a:prstGeom>
          <a:solidFill>
            <a:srgbClr val="E8F7EE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65" name="CustomShape 31"/>
          <p:cNvSpPr/>
          <p:nvPr/>
        </p:nvSpPr>
        <p:spPr>
          <a:xfrm>
            <a:off x="3287520" y="4219200"/>
            <a:ext cx="42840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939" b="1" strike="noStrike" spc="-1">
                <a:solidFill>
                  <a:srgbClr val="16A34A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完成</a:t>
            </a:r>
            <a:endParaRPr lang="en-US" sz="93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6" name="CustomShape 32"/>
          <p:cNvSpPr/>
          <p:nvPr/>
        </p:nvSpPr>
        <p:spPr>
          <a:xfrm>
            <a:off x="4039920" y="4219200"/>
            <a:ext cx="2512080" cy="15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Dockerfile；pytest 2 passed</a:t>
            </a:r>
          </a:p>
        </p:txBody>
      </p:sp>
      <p:sp>
        <p:nvSpPr>
          <p:cNvPr id="267" name="CustomShape 33"/>
          <p:cNvSpPr/>
          <p:nvPr/>
        </p:nvSpPr>
        <p:spPr>
          <a:xfrm>
            <a:off x="7048440" y="1238400"/>
            <a:ext cx="4186800" cy="35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68" name="CustomShape 34"/>
          <p:cNvSpPr/>
          <p:nvPr/>
        </p:nvSpPr>
        <p:spPr>
          <a:xfrm>
            <a:off x="7308000" y="1404000"/>
            <a:ext cx="11160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組員分工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9" name="CustomShape 35"/>
          <p:cNvSpPr/>
          <p:nvPr/>
        </p:nvSpPr>
        <p:spPr>
          <a:xfrm>
            <a:off x="7334280" y="1952640"/>
            <a:ext cx="3609720" cy="279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陳意欣｜專案整合、Gradio UI、測試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黃薏庭｜資料欄位設計、模擬資料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蔡异堤｜資料清洗與異常值處理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吳宣縈｜統計分析與視覺化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尤姵瑄｜Docker 部署與環境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</a:rPr>
              <a:t>王品儒｜文件撰寫與展示流程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微軟正黑體"/>
              <a:ea typeface="微軟正黑體"/>
            </a:endParaRPr>
          </a:p>
        </p:txBody>
      </p:sp>
      <p:sp>
        <p:nvSpPr>
          <p:cNvPr id="270" name="CustomShape 36"/>
          <p:cNvSpPr/>
          <p:nvPr/>
        </p:nvSpPr>
        <p:spPr>
          <a:xfrm>
            <a:off x="1333620" y="5428080"/>
            <a:ext cx="952452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580" b="1" strike="noStrike" spc="-1" dirty="0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專案交付：可執行程式、README、資料集、Dockerfile、測試、Word 報告與本簡報。</a:t>
            </a:r>
            <a:endParaRPr lang="en-US" sz="158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1" name="CustomShape 37"/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09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64BD6-EF36-5E31-1E9D-6462992C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>
            <a:extLst>
              <a:ext uri="{FF2B5EF4-FFF2-40B4-BE49-F238E27FC236}">
                <a16:creationId xmlns:a16="http://schemas.microsoft.com/office/drawing/2014/main" id="{1343E039-80DF-62C9-FE2E-D8D3B21C5435}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73" name="CustomShape 2">
            <a:extLst>
              <a:ext uri="{FF2B5EF4-FFF2-40B4-BE49-F238E27FC236}">
                <a16:creationId xmlns:a16="http://schemas.microsoft.com/office/drawing/2014/main" id="{D278667A-7DD8-00E6-23D7-BA95DEC79B2F}"/>
              </a:ext>
            </a:extLst>
          </p:cNvPr>
          <p:cNvSpPr/>
          <p:nvPr/>
        </p:nvSpPr>
        <p:spPr>
          <a:xfrm>
            <a:off x="0" y="0"/>
            <a:ext cx="12191760" cy="742680"/>
          </a:xfrm>
          <a:prstGeom prst="rect">
            <a:avLst/>
          </a:prstGeom>
          <a:solidFill>
            <a:srgbClr val="FFFF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74" name="CustomShape 3">
            <a:extLst>
              <a:ext uri="{FF2B5EF4-FFF2-40B4-BE49-F238E27FC236}">
                <a16:creationId xmlns:a16="http://schemas.microsoft.com/office/drawing/2014/main" id="{42AF8449-BA0B-875A-041B-06E990B16BB5}"/>
              </a:ext>
            </a:extLst>
          </p:cNvPr>
          <p:cNvSpPr/>
          <p:nvPr/>
        </p:nvSpPr>
        <p:spPr>
          <a:xfrm>
            <a:off x="590400" y="171360"/>
            <a:ext cx="495252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980" b="1" strike="noStrike" spc="-1">
                <a:solidFill>
                  <a:srgbClr val="0891B2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Shipping &amp; Port Logistics Dashboard</a:t>
            </a:r>
            <a:endParaRPr lang="en-US" sz="98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5" name="CustomShape 4">
            <a:extLst>
              <a:ext uri="{FF2B5EF4-FFF2-40B4-BE49-F238E27FC236}">
                <a16:creationId xmlns:a16="http://schemas.microsoft.com/office/drawing/2014/main" id="{28F54693-3133-29EB-6A85-2379D5264271}"/>
              </a:ext>
            </a:extLst>
          </p:cNvPr>
          <p:cNvSpPr/>
          <p:nvPr/>
        </p:nvSpPr>
        <p:spPr>
          <a:xfrm>
            <a:off x="590400" y="361800"/>
            <a:ext cx="8096040" cy="3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結論與未來展望：從課堂原型走向真實航運分析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6" name="CustomShape 5">
            <a:extLst>
              <a:ext uri="{FF2B5EF4-FFF2-40B4-BE49-F238E27FC236}">
                <a16:creationId xmlns:a16="http://schemas.microsoft.com/office/drawing/2014/main" id="{930FF11F-2A27-A189-E738-582E7928D224}"/>
              </a:ext>
            </a:extLst>
          </p:cNvPr>
          <p:cNvSpPr/>
          <p:nvPr/>
        </p:nvSpPr>
        <p:spPr>
          <a:xfrm>
            <a:off x="10667880" y="266760"/>
            <a:ext cx="856800" cy="266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1050" b="1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第 9 組</a:t>
            </a:r>
            <a:endParaRPr lang="en-US" sz="10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7" name="CustomShape 6">
            <a:extLst>
              <a:ext uri="{FF2B5EF4-FFF2-40B4-BE49-F238E27FC236}">
                <a16:creationId xmlns:a16="http://schemas.microsoft.com/office/drawing/2014/main" id="{0C30A4EA-F51D-07D4-6525-AB9CEFFE305F}"/>
              </a:ext>
            </a:extLst>
          </p:cNvPr>
          <p:cNvSpPr/>
          <p:nvPr/>
        </p:nvSpPr>
        <p:spPr>
          <a:xfrm>
            <a:off x="743040" y="1066680"/>
            <a:ext cx="10191660" cy="51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en-US" sz="1879" b="1" strike="noStrike" spc="-1" dirty="0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本專題完成一套可重現的資料分析儀表板：資料能被清洗、指標能被篩選、圖表能被即時展示。</a:t>
            </a:r>
            <a:endParaRPr lang="en-US" sz="1879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8" name="CustomShape 7">
            <a:extLst>
              <a:ext uri="{FF2B5EF4-FFF2-40B4-BE49-F238E27FC236}">
                <a16:creationId xmlns:a16="http://schemas.microsoft.com/office/drawing/2014/main" id="{6F69D0B8-7AEC-EB10-AC5D-57567D19D514}"/>
              </a:ext>
            </a:extLst>
          </p:cNvPr>
          <p:cNvSpPr/>
          <p:nvPr/>
        </p:nvSpPr>
        <p:spPr>
          <a:xfrm>
            <a:off x="876240" y="2048040"/>
            <a:ext cx="3047760" cy="19998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79" name="CustomShape 8">
            <a:extLst>
              <a:ext uri="{FF2B5EF4-FFF2-40B4-BE49-F238E27FC236}">
                <a16:creationId xmlns:a16="http://schemas.microsoft.com/office/drawing/2014/main" id="{1C39FD79-15D0-CCF4-F7A9-06482594237B}"/>
              </a:ext>
            </a:extLst>
          </p:cNvPr>
          <p:cNvSpPr/>
          <p:nvPr/>
        </p:nvSpPr>
        <p:spPr>
          <a:xfrm>
            <a:off x="876240" y="2048040"/>
            <a:ext cx="66240" cy="1999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80" name="CustomShape 9">
            <a:extLst>
              <a:ext uri="{FF2B5EF4-FFF2-40B4-BE49-F238E27FC236}">
                <a16:creationId xmlns:a16="http://schemas.microsoft.com/office/drawing/2014/main" id="{8CDF40AA-C46A-B8DC-A0F2-8CE3DE8BBF8B}"/>
              </a:ext>
            </a:extLst>
          </p:cNvPr>
          <p:cNvSpPr/>
          <p:nvPr/>
        </p:nvSpPr>
        <p:spPr>
          <a:xfrm>
            <a:off x="1085760" y="2219400"/>
            <a:ext cx="272376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已完成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1" name="CustomShape 10">
            <a:extLst>
              <a:ext uri="{FF2B5EF4-FFF2-40B4-BE49-F238E27FC236}">
                <a16:creationId xmlns:a16="http://schemas.microsoft.com/office/drawing/2014/main" id="{6EAB39B8-E3AA-A688-8122-85D9170E11ED}"/>
              </a:ext>
            </a:extLst>
          </p:cNvPr>
          <p:cNvSpPr/>
          <p:nvPr/>
        </p:nvSpPr>
        <p:spPr>
          <a:xfrm>
            <a:off x="1085760" y="2543040"/>
            <a:ext cx="2723760" cy="139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CSV 資料清洗、港口/航線分析、Gradio 互動介面、Docker 部署設定與基本測試。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2" name="CustomShape 11">
            <a:extLst>
              <a:ext uri="{FF2B5EF4-FFF2-40B4-BE49-F238E27FC236}">
                <a16:creationId xmlns:a16="http://schemas.microsoft.com/office/drawing/2014/main" id="{AA23E1C5-4196-E63A-9B52-A6CAE554E3F9}"/>
              </a:ext>
            </a:extLst>
          </p:cNvPr>
          <p:cNvSpPr/>
          <p:nvPr/>
        </p:nvSpPr>
        <p:spPr>
          <a:xfrm>
            <a:off x="4572000" y="2048040"/>
            <a:ext cx="3047760" cy="19998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83" name="CustomShape 12">
            <a:extLst>
              <a:ext uri="{FF2B5EF4-FFF2-40B4-BE49-F238E27FC236}">
                <a16:creationId xmlns:a16="http://schemas.microsoft.com/office/drawing/2014/main" id="{C17269C8-DB0C-6A06-D441-6F481ADB4CA0}"/>
              </a:ext>
            </a:extLst>
          </p:cNvPr>
          <p:cNvSpPr/>
          <p:nvPr/>
        </p:nvSpPr>
        <p:spPr>
          <a:xfrm>
            <a:off x="4572000" y="2048040"/>
            <a:ext cx="66240" cy="1999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84" name="CustomShape 13">
            <a:extLst>
              <a:ext uri="{FF2B5EF4-FFF2-40B4-BE49-F238E27FC236}">
                <a16:creationId xmlns:a16="http://schemas.microsoft.com/office/drawing/2014/main" id="{CAFAECDE-0B9D-DC50-12FF-16F69D854779}"/>
              </a:ext>
            </a:extLst>
          </p:cNvPr>
          <p:cNvSpPr/>
          <p:nvPr/>
        </p:nvSpPr>
        <p:spPr>
          <a:xfrm>
            <a:off x="4781520" y="2219400"/>
            <a:ext cx="272376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專題價值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5" name="CustomShape 14">
            <a:extLst>
              <a:ext uri="{FF2B5EF4-FFF2-40B4-BE49-F238E27FC236}">
                <a16:creationId xmlns:a16="http://schemas.microsoft.com/office/drawing/2014/main" id="{F95B4AC0-E63B-0FBE-D7E3-2322B83CD366}"/>
              </a:ext>
            </a:extLst>
          </p:cNvPr>
          <p:cNvSpPr/>
          <p:nvPr/>
        </p:nvSpPr>
        <p:spPr>
          <a:xfrm>
            <a:off x="4781520" y="2543040"/>
            <a:ext cx="2723760" cy="139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把技術性的資料處理流程轉成非技術使用者也能操作的視覺化 Web 工具。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6" name="CustomShape 15">
            <a:extLst>
              <a:ext uri="{FF2B5EF4-FFF2-40B4-BE49-F238E27FC236}">
                <a16:creationId xmlns:a16="http://schemas.microsoft.com/office/drawing/2014/main" id="{2A42E5B6-0EF5-7869-DDE9-4AE34E09B996}"/>
              </a:ext>
            </a:extLst>
          </p:cNvPr>
          <p:cNvSpPr/>
          <p:nvPr/>
        </p:nvSpPr>
        <p:spPr>
          <a:xfrm>
            <a:off x="8267760" y="2048040"/>
            <a:ext cx="3047760" cy="19998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52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87" name="CustomShape 16">
            <a:extLst>
              <a:ext uri="{FF2B5EF4-FFF2-40B4-BE49-F238E27FC236}">
                <a16:creationId xmlns:a16="http://schemas.microsoft.com/office/drawing/2014/main" id="{85D936E4-920A-E59E-308B-38EA3CCB476F}"/>
              </a:ext>
            </a:extLst>
          </p:cNvPr>
          <p:cNvSpPr/>
          <p:nvPr/>
        </p:nvSpPr>
        <p:spPr>
          <a:xfrm>
            <a:off x="8267760" y="2048040"/>
            <a:ext cx="66240" cy="199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88" name="CustomShape 17">
            <a:extLst>
              <a:ext uri="{FF2B5EF4-FFF2-40B4-BE49-F238E27FC236}">
                <a16:creationId xmlns:a16="http://schemas.microsoft.com/office/drawing/2014/main" id="{6742F235-C328-D6D1-A831-48FF06C6F469}"/>
              </a:ext>
            </a:extLst>
          </p:cNvPr>
          <p:cNvSpPr/>
          <p:nvPr/>
        </p:nvSpPr>
        <p:spPr>
          <a:xfrm>
            <a:off x="8477280" y="2219400"/>
            <a:ext cx="2723760" cy="22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r>
              <a:rPr lang="en-US" sz="2000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後續擴充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9" name="CustomShape 18">
            <a:extLst>
              <a:ext uri="{FF2B5EF4-FFF2-40B4-BE49-F238E27FC236}">
                <a16:creationId xmlns:a16="http://schemas.microsoft.com/office/drawing/2014/main" id="{5A3243E3-3791-83AC-E3DD-6FCBCA03E67E}"/>
              </a:ext>
            </a:extLst>
          </p:cNvPr>
          <p:cNvSpPr/>
          <p:nvPr/>
        </p:nvSpPr>
        <p:spPr>
          <a:xfrm>
            <a:off x="8477280" y="2543040"/>
            <a:ext cx="2723760" cy="139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微軟正黑體"/>
                <a:ea typeface="微軟正黑體"/>
              </a:rPr>
              <a:t>串接真實航運 API、加入資料庫、登入權限、延誤預測模型與雲端部署。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0" name="CustomShape 19">
            <a:extLst>
              <a:ext uri="{FF2B5EF4-FFF2-40B4-BE49-F238E27FC236}">
                <a16:creationId xmlns:a16="http://schemas.microsoft.com/office/drawing/2014/main" id="{47E6307D-902C-9383-680D-9CE3779BF5C9}"/>
              </a:ext>
            </a:extLst>
          </p:cNvPr>
          <p:cNvSpPr/>
          <p:nvPr/>
        </p:nvSpPr>
        <p:spPr>
          <a:xfrm>
            <a:off x="1619280" y="4857840"/>
            <a:ext cx="8953200" cy="666360"/>
          </a:xfrm>
          <a:prstGeom prst="roundRect">
            <a:avLst>
              <a:gd name="adj" fmla="val 11429"/>
            </a:avLst>
          </a:prstGeom>
          <a:solidFill>
            <a:srgbClr val="E8F1FF"/>
          </a:solid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91" name="CustomShape 20">
            <a:extLst>
              <a:ext uri="{FF2B5EF4-FFF2-40B4-BE49-F238E27FC236}">
                <a16:creationId xmlns:a16="http://schemas.microsoft.com/office/drawing/2014/main" id="{493AD34B-CE8E-81D6-DA9A-A400311B1C57}"/>
              </a:ext>
            </a:extLst>
          </p:cNvPr>
          <p:cNvSpPr/>
          <p:nvPr/>
        </p:nvSpPr>
        <p:spPr>
          <a:xfrm>
            <a:off x="2000160" y="5067360"/>
            <a:ext cx="8191080" cy="24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n-US" sz="1729" b="1" strike="noStrike" spc="-1">
                <a:solidFill>
                  <a:srgbClr val="0B2545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下一步：讓儀表板從「Demo 可用」提升為「真實資料可接、營運決策可用」。</a:t>
            </a:r>
            <a:endParaRPr lang="en-US" sz="1729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2" name="CustomShape 21">
            <a:extLst>
              <a:ext uri="{FF2B5EF4-FFF2-40B4-BE49-F238E27FC236}">
                <a16:creationId xmlns:a16="http://schemas.microsoft.com/office/drawing/2014/main" id="{9CAF9C58-BA99-8E60-2B1B-FFA9A77680CE}"/>
              </a:ext>
            </a:extLst>
          </p:cNvPr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10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129460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92" name="CustomShape 21"/>
          <p:cNvSpPr/>
          <p:nvPr/>
        </p:nvSpPr>
        <p:spPr>
          <a:xfrm>
            <a:off x="11163240" y="6438960"/>
            <a:ext cx="437760" cy="20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r">
              <a:lnSpc>
                <a:spcPct val="100000"/>
              </a:lnSpc>
            </a:pPr>
            <a:r>
              <a:rPr lang="en-US" sz="900" b="0" strike="noStrike" spc="-1">
                <a:solidFill>
                  <a:srgbClr val="64748B"/>
                </a:solidFill>
                <a:uFill>
                  <a:solidFill>
                    <a:srgbClr val="FFFFFF"/>
                  </a:solidFill>
                </a:uFill>
                <a:latin typeface="Aptos"/>
                <a:ea typeface="Aptos"/>
              </a:rPr>
              <a:t>10</a:t>
            </a:r>
            <a:endParaRPr lang="en-US" sz="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D5083A6-4F75-838A-1A8F-90951AB1FACA}"/>
              </a:ext>
            </a:extLst>
          </p:cNvPr>
          <p:cNvSpPr txBox="1"/>
          <p:nvPr/>
        </p:nvSpPr>
        <p:spPr>
          <a:xfrm>
            <a:off x="2952630" y="3044099"/>
            <a:ext cx="6286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002060"/>
                </a:solidFill>
              </a:rPr>
              <a:t>謝謝聆聽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644</Words>
  <Application>Microsoft Macintosh PowerPoint</Application>
  <PresentationFormat>寬螢幕</PresentationFormat>
  <Paragraphs>186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微軟正黑體</vt:lpstr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意欣 陳</cp:lastModifiedBy>
  <cp:revision>5</cp:revision>
  <dcterms:created xsi:type="dcterms:W3CDTF">2026-06-14T18:47:42Z</dcterms:created>
  <dcterms:modified xsi:type="dcterms:W3CDTF">2026-06-15T07:34:54Z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Security">
    <vt:i4>0</vt:i4>
  </property>
  <property fmtid="{D5CDD505-2E9C-101B-9397-08002B2CF9AE}" pid="3" name="HiddenSlides">
    <vt:i4>0</vt:i4>
  </property>
  <property fmtid="{D5CDD505-2E9C-101B-9397-08002B2CF9AE}" pid="4" name="Notes">
    <vt:i4>0</vt:i4>
  </property>
  <property fmtid="{D5CDD505-2E9C-101B-9397-08002B2CF9AE}" pid="5" name="PresentationFormat">
    <vt:lpwstr>Converted Presentation</vt:lpwstr>
  </property>
  <property fmtid="{D5CDD505-2E9C-101B-9397-08002B2CF9AE}" pid="6" name="ShareDoc">
    <vt:bool>false</vt:bool>
  </property>
  <property fmtid="{D5CDD505-2E9C-101B-9397-08002B2CF9AE}" pid="7" name="Slides">
    <vt:i4>0</vt:i4>
  </property>
</Properties>
</file>